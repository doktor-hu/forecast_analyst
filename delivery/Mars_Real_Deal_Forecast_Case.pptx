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1cfc7f0aa84bd9" /><Relationship Type="http://schemas.openxmlformats.org/officeDocument/2006/relationships/extended-properties" Target="/docProps/app.xml" Id="Re76fd8938eaa4405" /><Relationship Type="http://schemas.openxmlformats.org/officeDocument/2006/relationships/officeDocument" Target="/ppt/presentation.xml" Id="R1cc99b0f1fc347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8184962a8c431a"/>
  </p:sldMasterIdLst>
  <p:notesMasterIdLst>
    <p:notesMasterId xmlns:r="http://schemas.openxmlformats.org/officeDocument/2006/relationships" r:id="R2fd396f5710e4eb7"/>
  </p:notesMasterIdLst>
  <p:sldIdLst>
    <p:sldId xmlns:r="http://schemas.openxmlformats.org/officeDocument/2006/relationships" id="256" r:id="R104d7df338fb40f9"/>
    <p:sldId xmlns:r="http://schemas.openxmlformats.org/officeDocument/2006/relationships" id="257" r:id="Rede811eab68d486b"/>
    <p:sldId xmlns:r="http://schemas.openxmlformats.org/officeDocument/2006/relationships" id="258" r:id="Rf296fa0c7d724faf"/>
    <p:sldId xmlns:r="http://schemas.openxmlformats.org/officeDocument/2006/relationships" id="259" r:id="R1ada9ea0c72e4119"/>
    <p:sldId xmlns:r="http://schemas.openxmlformats.org/officeDocument/2006/relationships" id="260" r:id="Ra9747a052ef248fc"/>
    <p:sldId xmlns:r="http://schemas.openxmlformats.org/officeDocument/2006/relationships" id="261" r:id="R056e916818814ad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ae2d2f6a2542b2" /><Relationship Type="http://schemas.openxmlformats.org/officeDocument/2006/relationships/slideMaster" Target="/ppt/slideMasters/slideMaster1.xml" Id="R8d8184962a8c431a" /><Relationship Type="http://schemas.openxmlformats.org/officeDocument/2006/relationships/notesMaster" Target="/ppt/notesMasters/notesMaster1.xml" Id="R2fd396f5710e4eb7" /><Relationship Type="http://schemas.openxmlformats.org/officeDocument/2006/relationships/presProps" Target="/ppt/presProps.xml" Id="R85d1fc87a0654cb0" /><Relationship Type="http://schemas.openxmlformats.org/officeDocument/2006/relationships/viewProps" Target="/ppt/viewProps.xml" Id="R33abbbfa152b4c8d" /><Relationship Type="http://schemas.openxmlformats.org/officeDocument/2006/relationships/tableStyles" Target="/ppt/tableStyles.xml" Id="Ra10cffb78b7544ba" /><Relationship Type="http://schemas.openxmlformats.org/officeDocument/2006/relationships/slide" Target="/ppt/slides/slide1.xml" Id="R104d7df338fb40f9" /><Relationship Type="http://schemas.openxmlformats.org/officeDocument/2006/relationships/slide" Target="/ppt/slides/slide2.xml" Id="Rede811eab68d486b" /><Relationship Type="http://schemas.openxmlformats.org/officeDocument/2006/relationships/slide" Target="/ppt/slides/slide3.xml" Id="Rf296fa0c7d724faf" /><Relationship Type="http://schemas.openxmlformats.org/officeDocument/2006/relationships/slide" Target="/ppt/slides/slide4.xml" Id="R1ada9ea0c72e4119" /><Relationship Type="http://schemas.openxmlformats.org/officeDocument/2006/relationships/slide" Target="/ppt/slides/slide5.xml" Id="Ra9747a052ef248fc" /><Relationship Type="http://schemas.openxmlformats.org/officeDocument/2006/relationships/slide" Target="/ppt/slides/slide6.xml" Id="R056e916818814a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4c1d72feaad44f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eeb628aa7e49dc" /><Relationship Type="http://schemas.openxmlformats.org/officeDocument/2006/relationships/notesMaster" Target="/ppt/notesMasters/notesMaster1.xml" Id="R514b3d5f22f341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91a26417a644f4" /><Relationship Type="http://schemas.openxmlformats.org/officeDocument/2006/relationships/notesMaster" Target="/ppt/notesMasters/notesMaster1.xml" Id="Rd4e90b13b0204b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9d44bf5c9140a4" /><Relationship Type="http://schemas.openxmlformats.org/officeDocument/2006/relationships/notesMaster" Target="/ppt/notesMasters/notesMaster1.xml" Id="Rcb1ac7f45e39449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1f17f0f2b5e43b8" /><Relationship Type="http://schemas.openxmlformats.org/officeDocument/2006/relationships/notesMaster" Target="/ppt/notesMasters/notesMaster1.xml" Id="Ra3ef414ceefd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15a4d22f75445c" /><Relationship Type="http://schemas.openxmlformats.org/officeDocument/2006/relationships/notesMaster" Target="/ppt/notesMasters/notesMaster1.xml" Id="R6648339f56984f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307f6dd006046a9" /><Relationship Type="http://schemas.openxmlformats.org/officeDocument/2006/relationships/notesMaster" Target="/ppt/notesMasters/notesMaster1.xml" Id="Rab5ea4b6a9964ee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c3b365cbcc40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11d6f5884649fc" /><Relationship Type="http://schemas.openxmlformats.org/officeDocument/2006/relationships/slideLayout" Target="/ppt/slideLayouts/slideLayout1.xml" Id="R1df39f87194a4c7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f39f87194a4c7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d9e10c49949ac" /><Relationship Type="http://schemas.openxmlformats.org/officeDocument/2006/relationships/notesSlide" Target="/ppt/notesSlides/notesSlide1.xml" Id="Re3c518ca46354e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bc408fe695498e" /><Relationship Type="http://schemas.openxmlformats.org/officeDocument/2006/relationships/image" Target="/ppt/media/image.png" Id="R9dd447920d474a43" /><Relationship Type="http://schemas.openxmlformats.org/officeDocument/2006/relationships/notesSlide" Target="/ppt/notesSlides/notesSlide2.xml" Id="R7fad063edf0247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23a6abf364161" /><Relationship Type="http://schemas.openxmlformats.org/officeDocument/2006/relationships/image" Target="/ppt/media/image2.png" Id="R103d8fd781b845aa" /><Relationship Type="http://schemas.openxmlformats.org/officeDocument/2006/relationships/notesSlide" Target="/ppt/notesSlides/notesSlide3.xml" Id="Re696718b0c874e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963553ea8c43d3" /><Relationship Type="http://schemas.openxmlformats.org/officeDocument/2006/relationships/notesSlide" Target="/ppt/notesSlides/notesSlide4.xml" Id="Rff85a829a8ac4a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125c380ccc4fc3" /><Relationship Type="http://schemas.openxmlformats.org/officeDocument/2006/relationships/notesSlide" Target="/ppt/notesSlides/notesSlide5.xml" Id="R63326dcab2214d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846f8378944ae" /><Relationship Type="http://schemas.openxmlformats.org/officeDocument/2006/relationships/notesSlide" Target="/ppt/notesSlides/notesSlide6.xml" Id="Rcdcc3d463ffb49b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2E5BE-432E-4794-B7C8-2C1BB326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F75946-5EB3-44C0-A8A2-9DFB1AF5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FORECAST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D387-BB45-4A74-9097-5FA3ECC10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Hold January at 856k until promotion mechanics are signed.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791CEE-9EE5-4F63-ACF8-6F9BA24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819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Sales can carry the upside in its financial view, but the factory signal should only load customer-backed, supply-feasible demand.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4F2DA-1367-4FDE-BA86-4324DB620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2333625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62E4FF-0E64-4509-8515-5EDCC153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Factory baseline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3A251C-D050-401B-A47B-73CF275A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528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9E1B32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44EAC2-5472-439F-BD3A-57E9BEEF8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100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A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7A78"/>
                </a:solidFill>
                <a:latin typeface="Aptos"/>
                <a:ea typeface="Aptos"/>
                <a:cs typeface="Aptos"/>
              </a:rPr>
              <a:t>Clean P13 run-rate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01A6A-BABC-4B8D-BC43-8AF5765C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33625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35E1A0-CED4-404E-8676-669CD7DC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861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Signed promo 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F391E-9E91-4FEB-BDB1-FD93DF01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528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9E1B32"/>
                </a:solidFill>
                <a:latin typeface="Aptos"/>
                <a:ea typeface="Aptos"/>
                <a:cs typeface="Aptos"/>
              </a:rPr>
              <a:t>1,144k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DED7A-714B-483D-A607-3770F4E2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100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A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7A78"/>
                </a:solidFill>
                <a:latin typeface="Aptos"/>
                <a:ea typeface="Aptos"/>
                <a:cs typeface="Aptos"/>
              </a:rPr>
              <a:t>Two-week Customer 1-like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60995-B65E-4210-BB45-A9F002609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933700"/>
            <a:ext cx="2333625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494143-0E51-4837-925B-D5767F56D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086100"/>
            <a:ext cx="1990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Service-risk read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BB088B-1B84-4C7D-8814-CA0C54311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35280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9E1B32"/>
                </a:solidFill>
                <a:latin typeface="Aptos"/>
                <a:ea typeface="Aptos"/>
                <a:cs typeface="Aptos"/>
              </a:rPr>
              <a:t>235k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A5910-9393-4F71-A6E7-AC18C18E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810000"/>
            <a:ext cx="1990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007A7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007A78"/>
                </a:solidFill>
                <a:latin typeface="Aptos"/>
                <a:ea typeface="Aptos"/>
                <a:cs typeface="Aptos"/>
              </a:rPr>
              <a:t>Late-year constrained demand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B9AA99-F171-49FE-A955-6B22396C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33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January scenarios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176A4-7948-425A-BA86-6468C0BB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18A49-7F61-48E4-8D76-58346033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857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77B75-CB13-4698-840A-6C650D1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371850"/>
            <a:ext cx="588929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213B60-39EF-45BF-AF3A-9F751CA72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3528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6D5C47-E25E-4957-BC58-3292F35F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6766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Use for factory sign-off now.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7D42D7-D81F-4C54-90DF-500C4F146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95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Signed promo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A2B77D-B31D-4AF5-A788-64ECA66C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857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D292D8-41A6-4148-A29D-F09147B5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057650"/>
            <a:ext cx="787074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DCF9D5-8E48-417F-906E-8D967C23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0386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1.144k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879678-8C4B-49C9-B5C0-7B508734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624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Load only after Sales signs assumptions.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3697CA-03F7-4394-86CD-21C4F8D1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053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4CC6532-56D7-468E-8995-91B2F8A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43450"/>
            <a:ext cx="857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69E276-ACEF-48AB-BA76-B2036C84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743450"/>
            <a:ext cx="857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70D631-7BDF-463D-B5F9-BE94CF85D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2440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1.246k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41118DD-DF2D-451D-B07C-5DE990CF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0482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Capacity risk, not default forecast.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4F7B89-4EFF-4B7D-BDE7-557117E56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4395205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B45B2E-D881-4BA8-BF22-89794BBC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9403F3-5D2F-4345-838F-9F6B760E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BDF91F-A192-4ABE-B68E-5DAC1869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SERVICE CONTEXT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8CB599-9C8D-430C-8685-19319C343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A421C-76C9-4F04-BF2A-E95B979A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Delivered actuals need casefill context before they become demand.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d447920d474a43"/>
          <a:stretch xmlns:a="http://schemas.openxmlformats.org/drawingml/2006/main"/>
        </p:blipFill>
        <p:spPr>
          <a:xfrm xmlns:a="http://schemas.openxmlformats.org/drawingml/2006/main">
            <a:off x="552450" y="1809750"/>
            <a:ext cx="7524750" cy="3429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1D0DB0-E686-4D97-A8D5-2A50A3E5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47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Implication for the discussion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17963B-001C-46D6-B9FF-48C76F71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050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Casefill below 95% in 5 weeks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A7FF1-B5A6-466F-A9F4-2B2EDD82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Estimated lost / delayed demand: 235k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D55C87-D6D9-4363-BF7E-8400B6FD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19450"/>
            <a:ext cx="2667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P12 actuals alone are not a clean baseline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505A6F-D084-4BBC-A5D8-C70EEE60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05250"/>
            <a:ext cx="28003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133350" tIns="133350" rIns="133350" bIns="1333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Supply Chain should challenge any January uplift that is justified only by recent delivered actuals. The clean forecast discussion is ordered demand, not shipments in a constrained week.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16DEC0-FE53-4A90-8EC7-7F936215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172248136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81D972-C90B-4124-BD3A-56589635A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51A97-7B62-41C1-A842-25E87149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F91F80-B10F-4DA7-A8A4-89895B798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PROMOTION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0D9E5F-92DC-4989-88BC-CED50A780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A8BAD4-042E-4206-A49E-FBE855E7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Promotions support upside, but customer variability is the risk.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3d8fd781b845aa"/>
          <a:stretch xmlns:a="http://schemas.openxmlformats.org/drawingml/2006/main"/>
        </p:blipFill>
        <p:spPr>
          <a:xfrm xmlns:a="http://schemas.openxmlformats.org/drawingml/2006/main">
            <a:off x="533400" y="1790700"/>
            <a:ext cx="7048500" cy="3619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626FAD-C740-407C-A624-8EB98A10D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809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How I would position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EB516E-73C8-4720-8013-1A408524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1 median promo week: 378k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0809F-22CB-4635-98AD-C0EBF0A9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432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2 median promo week: 277k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BA3A61-5811-4298-904F-A92C91F3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00400"/>
            <a:ext cx="2857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95250" tIns="47625" rIns="95250" bIns="47625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Customer 2 range includes extreme spikes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18B74D-9304-44DB-A5C1-16F27F329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29337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133350" tIns="133350" rIns="133350" bIns="1333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 promotion is not one universal uplift. I would ask Sales which customer, which mechanic, and which support plan they are asking the factory to believe.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A3C1CC-52EE-4A76-ACFD-68EA2DF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30421450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F577E6-1116-40E4-8A02-D811676C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B52590-61CA-4E12-95BC-F08CA2885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DC7A67-21D0-4875-95B3-6A54609E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BASE FORECAST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F8EAA-F0A3-4221-99BA-D73287DD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A9F0F4-2AD6-480A-8C7F-5B06AE1A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The clean base is the latest normal run-rate, not the constrained dip.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DF064-39F8-46DA-84F4-19464C763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288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71ADBE-A529-4036-ABA4-D3D6C85B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 read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C432A-9030-4E27-8A1A-88ADE2089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288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A5F2B1-96AD-4BDD-AD17-13C8CE0AA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Volume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920411-7AF5-4798-8AE6-2C8A1439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18288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FC3D88-7BBE-4CDA-99A9-B2CE124D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9050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DF0FD9-EAA3-4D69-AB80-F685C9DF0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04EC1-5214-43CA-950E-4E224E389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P01 2021 ordered demand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50E878-6163-4A69-87A1-E7707E40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860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D8725-7DE4-4D19-9853-ADA69EDAF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622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710k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32E8D-1491-4A11-86F6-80C496AF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860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4883F-7570-430F-A8CE-742F305C9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3622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Direct January analogy, but a year old.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0A8722-FFFD-4B1B-AF63-92A141561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432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B933B4-747E-4F50-A599-421AA654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P13 2021 ordered demand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8D378E8-F60B-4C1D-BE77-1D8A2BAA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677457-409C-4821-BFAA-91411B0C6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194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705306-1A56-4903-B9A2-F8E02060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432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3494A8-015D-4B14-8E30-858E38460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8194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Latest clean 4-week period; normal service and no promotion.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DA1065-1355-45AB-888B-BE082C22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004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4E4279E-B298-4619-B919-E9C6AF3A8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766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Recent clean median x 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45C8F0-B5F4-4A4B-8E0D-E0C259DE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04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442821-66CF-4D04-99D8-71CF91EB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766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847k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6B5D54-37DE-4F8F-82DE-358CAC4F7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004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5D3CED-2A2F-43A2-B84C-6FE873E49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2766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Robust cross-check against P13.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E74F44A-1F21-4DEC-B498-E7C1026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4A43A9-C8AA-4F78-8E6B-93E4295D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2990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Recent clean mean x 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AABE66-3A6C-4CA9-A929-146EDC26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57600"/>
            <a:ext cx="1143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7AEAD8-518B-42DE-9C89-04A2CA14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33800"/>
            <a:ext cx="990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870k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13F735-98FA-4411-8600-8554AD2F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657600"/>
            <a:ext cx="476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761EEB-8C7E-4276-9373-3C037E297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733800"/>
            <a:ext cx="461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Shows P13 is not an aggressive outlier.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00710B-3958-42F8-9542-E2F22B31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Recommended no-promo phasing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A60F85-240A-446D-9882-CF9862AB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5574E8-2DF9-47A3-879B-C45E8FF0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19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212k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C9B190-9CC5-438C-BF69-4A45F5B7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33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F7323F-F98A-43EF-BC63-4092127D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219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254k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D28969D-1128-47E7-B8BA-4F4699EB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4933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D73BBA-D6F4-4ECB-AC2F-8E78F7E9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5219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214k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E6ABE47-0175-44BB-BEC0-1A55200D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B7280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7B13365-B3AF-4C76-8F78-03F548C7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219700"/>
            <a:ext cx="1200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176k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8EDC0E-37B0-494A-A21E-B7363B0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95800"/>
            <a:ext cx="3143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133350" tIns="133350" rIns="133350" bIns="13335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Forecast position: 856k cases is defensible because it is close to multiple clean base reads and avoids loading an uncommitted promotion into the factory plan.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A0644B-9F76-4EBE-812D-4B5A9E90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20395684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80E012-5332-426C-ACD0-0E975B963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23F4B-5632-465E-A7B6-7530D00E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5FF6D-D285-4107-A378-2D4F881A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SIGNED PROMO GATE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D3AC21-B4A0-4F9F-AECE-CE679B34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D80B0-3525-4923-A903-19293EBD0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If the event is signed, W2-W3 become the capacity constraint.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901E87-70CE-4356-A3CB-9050312E1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0DCE3-9F15-4EA5-82E1-D1B313F53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859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Scenario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97FCB9-93F9-4F95-8613-DAD2FEFD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8097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84D72-75E5-4ED8-8B28-C4E59E91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8859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B69F7-B12C-4C48-8EF2-4C844CF67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97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F8B0B-ACEA-45B8-A59F-91EA1B2C9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859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02A083-AA5D-4D02-BF17-B4FAF3E5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8097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1187F-05A2-4469-AD5A-6ED71067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8859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B64369-47C2-4F8B-A204-F54EE6122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097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D4766-7262-4F53-9458-01B2986E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0F9D3F-EF18-4F70-B0C1-0F5DB3581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097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3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B9B9B5-6BEA-4BF9-9435-B55F2D38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859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Total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EA59C8-076E-4C74-A53F-92A765DD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050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D5936F-B762-465B-A440-9BD46A5A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Base operational forecast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FB2B5D-4DEF-43AA-AA33-BFE95EDB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05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88F7FF-2A1C-47E8-BBF7-D65ED0F8E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3812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599677-AAF0-49B0-B933-FB5587AFD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05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71259-0A0F-4EF7-A8A0-62114C4E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254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C365A0-BB16-4A16-B060-B247AEBF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05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CDD49B-E854-435A-8907-4FBA80B1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BE24B0-5097-4A9D-9EE3-3CECC353E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3050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669783-02DD-49DB-BD58-2BC81EA6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812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1B4F2-493E-49CC-9D6E-6C85F938D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050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8CEC28-72FE-45B7-B74D-BDE12B70C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812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856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86ADB7-603E-4C16-B815-48A99D87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003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80A0E-E9B6-4028-ACC1-06F55DE2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Signed two-week promo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640005-7D08-4DB3-8068-886F7C1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003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64713-1D91-4497-8575-48872F6C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765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85F8913-ECCC-4747-813F-CAC361BA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003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042FF6-8AAC-4C0B-9E6B-FDFADD696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8765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378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7E1A595-6FFB-496A-8A31-1BB43A7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003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947EB84-5EDF-4CC5-80BA-8227731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8765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378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A58C2EE-41E7-477B-ABB7-05A7B8C6B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003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0C2860-85F5-42F6-BE9A-4519AFA5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765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728C0D1-F392-490F-91F7-B05FBD17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AF8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672E57-FDA5-46E2-83E6-DB8F6A1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765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1,144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7CF0AF-0EDF-4FBB-9B87-E37162FA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95650"/>
            <a:ext cx="2857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8414BD-4B82-4889-B6C8-DA1586240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270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Sales upside sensitivity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AC06F2-F380-42D4-A78D-BC1651A9E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956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66856CA-3EE8-413E-A3F0-6FFF6FA0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3718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212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34B5710-F1C5-4892-B5C5-AE79D493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2956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9940A6-B258-4F00-AE82-FDE77CFD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3718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429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33C3A2-B2E1-46FD-B4E8-D001CA2C8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956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9ED6D9-C54C-470A-A5DA-FDEA45D5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3718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429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A34BE5C-E9E9-4E97-922F-882ADF73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654C6E-DBAB-4EA1-BE40-B6BD487F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176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CFEB00C-4D61-4277-A51F-56F71F77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95650"/>
            <a:ext cx="1047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291777-3956-4E5E-85E4-DA21437D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371850"/>
            <a:ext cx="895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38100" tIns="19050" rIns="38100" bIns="1905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1,246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FA9A48-0D55-4097-83D4-B9F48D6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71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Total volume by scenario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35B5AB-5924-4D72-8E12-1D2F73C2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482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2BB2F9-FA72-48DC-95C9-A54DA8407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86300"/>
            <a:ext cx="3905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B73F122-839A-441E-8183-274633D7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686300"/>
            <a:ext cx="268290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7D51184-4A96-431D-B7E1-5F4CE1DB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6672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856k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776792C-B999-4F96-A86B-6261A01C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816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Signed promo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4DF5D8-C161-4BEE-80F5-250536B7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3905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9125C59-829A-45AE-B7CA-63EC52734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19700"/>
            <a:ext cx="3585559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81C699-E011-47C8-80A5-953DA67CA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2006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1.144k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1C5AAAB-A110-47BF-B210-CEDC5875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7150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Upside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B11562C-5947-46B8-8B8D-7CCD71C8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53100"/>
            <a:ext cx="3905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CEFF1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FEE5DC1-507D-4F50-A484-EBC9BDCEE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753100"/>
            <a:ext cx="3905250" cy="2476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2A900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5110513-50E5-43CB-91D6-EA5771E4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5734050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1.246k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FCDCEF5-B52A-4267-9EE2-43811E14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Operational gate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3093B25-A214-479A-8337-9F3A769C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669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152400" tIns="152400" rIns="152400" bIns="1524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Before loading 1,144k, require Sales to sign: customer, mechanic, W2-W3 phasing, committed orders, and contingency if casefill risk returns.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CDF56A4-57AD-4AC0-A417-D5975A7C4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A"/>
          </a:solidFill>
          <a:ln xmlns:a="http://schemas.openxmlformats.org/drawingml/2006/main" w="9525">
            <a:solidFill>
              <a:srgbClr val="9E1B32"/>
            </a:solidFill>
          </a:ln>
        </p:spPr>
        <p:txBody>
          <a:bodyPr xmlns:a="http://schemas.openxmlformats.org/drawingml/2006/main" wrap="square" lIns="152400" tIns="152400" rIns="152400" bIns="15240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I would not do: accept a January promotion uplift just because recent promotional weeks were exciting. The factory plan needs a signed event, not a story.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CCD6E0-614D-4563-9FB3-8FB567F5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Business Case - Forecast Analyst.xlsx; cases in '000.</a:t>
            </a:r>
          </a:p>
        </p:txBody>
      </p:sp>
    </p:spTree>
    <p:extLst>
      <p:ext uri="{BB962C8B-B14F-4D97-AF65-F5344CB8AC3E}">
        <p14:creationId xmlns:p14="http://schemas.microsoft.com/office/powerpoint/2010/main" val="2797896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F6E8B9-507B-419C-84AB-B13FAA60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F2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9B5481-60C0-41A7-A38E-A26B59467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55FB43-B9EB-4FC0-BB0E-CBD4E666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3375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SALES SIGN-OFF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3E06D-2199-45E4-93EB-627BD1AB0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484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05DA4B-7656-46E8-AC44-0B707FBEC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263238"/>
                </a:solidFill>
                <a:latin typeface="Aptos Display"/>
                <a:ea typeface="Aptos Display"/>
                <a:cs typeface="Aptos Display"/>
              </a:rPr>
              <a:t>Turn Sales ambition into accountable assumptions and weekly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48FF04-3286-487A-8C90-96C85ED9B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E1B3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9E1B32"/>
                </a:solidFill>
                <a:latin typeface="Aptos"/>
                <a:ea typeface="Aptos"/>
                <a:cs typeface="Aptos"/>
              </a:rPr>
              <a:t>Ask before sign-off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091FF5-9D12-4F32-800D-04228FD2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19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61BF22-9EB2-45C1-BCC4-96DCC77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431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Which customer and exact January weeks?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11EBB2-10C3-4266-8778-68B5108B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3EC07-0310-4B49-9B34-F7CB9E4F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765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discount, display, and feature support?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0637D-C0B8-4252-AF79-AD4E731FB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F8599-B43F-40E2-B07B-1E9AAF66D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committed orders and weekly phasing?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873300-7F84-49A5-BF2E-87404E780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95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EB550-021D-4710-9505-0BFD64BF3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cannibalization or forward-buy risk?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C49659-F774-4D60-B578-6D52AFB1E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529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9E1B32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47012-9A80-45D3-A28B-07B13B4B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767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What supply contingency if casefill drops?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F46C80-5675-41BD-85C3-6021842C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07A7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07A78"/>
                </a:solidFill>
                <a:latin typeface="Aptos"/>
                <a:ea typeface="Aptos"/>
                <a:cs typeface="Aptos"/>
              </a:rPr>
              <a:t>How to get Sales on 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A2173E-92A3-4C6E-A713-00C637D6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8D085-9C29-4B2C-84E5-A67B57CB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431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Show base and promo upside as two decisions.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2D522-A87B-4918-AE6C-3401FAF1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9527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FB4A03-24E7-4C4B-AE1F-B2FA3F7C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8765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Let Sales own the customer-backed uplift.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9AD935-1F48-4A94-A228-93C87A73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861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62F7FC-36FB-4014-87CC-AFD277E82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099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Agree the factory plan changes only with evidence.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4DEA4C-8DA8-4A73-9BB9-49AD868E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0195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D8DA31-6053-4A91-9BA9-876CF29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433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Review orders, shipments, and casefill weekly.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6E662A-3485-4A42-8EDA-4DBCE785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552950"/>
            <a:ext cx="171450" cy="1714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07A7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D8947-D887-4574-B98D-126E06EB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76750"/>
            <a:ext cx="3562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263238"/>
                </a:solidFill>
                <a:latin typeface="Aptos"/>
                <a:ea typeface="Aptos"/>
                <a:cs typeface="Aptos"/>
              </a:rPr>
              <a:t>Document assumptions after the meeting.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08F8B-CA01-4406-B787-E819383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734050"/>
            <a:ext cx="857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DE3"/>
            </a:solidFill>
          </a:ln>
        </p:spPr>
        <p:txBody>
          <a:bodyPr xmlns:a="http://schemas.openxmlformats.org/drawingml/2006/main" wrap="square" lIns="152400" tIns="114300" rIns="152400" bIns="11430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6323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63238"/>
                </a:solidFill>
                <a:latin typeface="Aptos"/>
                <a:ea typeface="Aptos"/>
                <a:cs typeface="Aptos"/>
              </a:rPr>
              <a:t>Expected follow-up: Sales will push for upside. I would keep the upside visible, but only convert it into the operational forecast when customer evidence and supply feasibility are locked.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667A6F-6318-443A-886C-7126B51B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484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B7280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B7280"/>
                </a:solidFill>
                <a:latin typeface="Aptos"/>
                <a:ea typeface="Aptos"/>
                <a:cs typeface="Aptos"/>
              </a:rPr>
              <a:t>Source: Assignment brief and forecast scenario outputs.</a:t>
            </a:r>
          </a:p>
        </p:txBody>
      </p:sp>
    </p:spTree>
    <p:extLst>
      <p:ext uri="{BB962C8B-B14F-4D97-AF65-F5344CB8AC3E}">
        <p14:creationId xmlns:p14="http://schemas.microsoft.com/office/powerpoint/2010/main" val="18244874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2026-06-10T19:25:49.2980000Z</dcterms:created>
  <dcterms:modified xsi:type="dcterms:W3CDTF">2026-06-10T19:25:49.2980000Z</dcterms:modified>
</coreProperties>
</file>