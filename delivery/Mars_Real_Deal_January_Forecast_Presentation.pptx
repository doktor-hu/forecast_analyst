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7"/>
  </p:notesMasterIdLst>
  <p:sldIdLst>
    <p:sldId id="256" r:id="rId3"/>
    <p:sldId id="263" r:id="rId4"/>
    <p:sldId id="264" r:id="rId5"/>
    <p:sldId id="257" r:id="rId6"/>
    <p:sldId id="265" r:id="rId7"/>
    <p:sldId id="258" r:id="rId8"/>
    <p:sldId id="259" r:id="rId9"/>
    <p:sldId id="260" r:id="rId10"/>
    <p:sldId id="261" r:id="rId11"/>
    <p:sldId id="262" r:id="rId12"/>
    <p:sldId id="266" r:id="rId13"/>
    <p:sldId id="267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9075" autoAdjust="0"/>
  </p:normalViewPr>
  <p:slideViewPr>
    <p:cSldViewPr snapToGrid="0" snapToObjects="1">
      <p:cViewPr varScale="1">
        <p:scale>
          <a:sx n="79" d="100"/>
          <a:sy n="79" d="100"/>
        </p:scale>
        <p:origin x="10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C9872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212</c:v>
                </c:pt>
                <c:pt idx="1">
                  <c:v>254</c:v>
                </c:pt>
                <c:pt idx="2">
                  <c:v>214</c:v>
                </c:pt>
                <c:pt idx="3">
                  <c:v>176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3F-47B6-B842-A13F3CC7AD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NL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NL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C9872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212</c:v>
                </c:pt>
                <c:pt idx="1">
                  <c:v>254</c:v>
                </c:pt>
                <c:pt idx="2">
                  <c:v>214</c:v>
                </c:pt>
                <c:pt idx="3">
                  <c:v>176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97-41BA-BD5A-0660F6EFC4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NL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NL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C9872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212</c:v>
                </c:pt>
                <c:pt idx="1">
                  <c:v>254</c:v>
                </c:pt>
                <c:pt idx="2">
                  <c:v>214</c:v>
                </c:pt>
                <c:pt idx="3">
                  <c:v>176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97-41BA-BD5A-0660F6EFC4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NL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NL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 benchmark</c:v>
                </c:pt>
              </c:strCache>
            </c:strRef>
          </c:tx>
          <c:spPr>
            <a:solidFill>
              <a:srgbClr val="246B9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Historic Jan 2021</c:v>
                </c:pt>
                <c:pt idx="1">
                  <c:v>P13 clean base</c:v>
                </c:pt>
                <c:pt idx="2">
                  <c:v>Recent clean mean x4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710</c:v>
                </c:pt>
                <c:pt idx="1">
                  <c:v>856</c:v>
                </c:pt>
                <c:pt idx="2">
                  <c:v>870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7F-4CF9-9907-A023878668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NL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NL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Jan forecast</c:v>
                </c:pt>
              </c:strCache>
            </c:strRef>
          </c:tx>
          <c:spPr>
            <a:solidFill>
              <a:srgbClr val="C9872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3"/>
                <c:pt idx="0">
                  <c:v>Base operational</c:v>
                </c:pt>
                <c:pt idx="1">
                  <c:v>Signed promo</c:v>
                </c:pt>
                <c:pt idx="2">
                  <c:v>Upside sensitivity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3"/>
                <c:pt idx="0">
                  <c:v>856</c:v>
                </c:pt>
                <c:pt idx="1">
                  <c:v>1144</c:v>
                </c:pt>
                <c:pt idx="2">
                  <c:v>1246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78-4310-B70F-84C461B888E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NL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NL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5759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Calculation notes: no calculation on the cover slide.</a:t>
            </a:r>
          </a:p>
          <a:p>
            <a:r>
              <a:rPr lang="en-US"/>
              <a:t>All forecast figures in the deck are shown in thousand cases ('000).</a:t>
            </a:r>
          </a:p>
          <a:p>
            <a:r>
              <a:rPr lang="en-US"/>
              <a:t>Source workbook: Business Case - Forecast Analyst.xlsx.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Calculation notes: the headline 856k is the January P01 factory baseline.</a:t>
            </a:r>
          </a:p>
          <a:p>
            <a:r>
              <a:rPr lang="en-US" dirty="0"/>
              <a:t>Equation: Base P01 = W1 + W2 + W3 + W4.</a:t>
            </a:r>
          </a:p>
          <a:p>
            <a:r>
              <a:rPr lang="en-US" dirty="0"/>
              <a:t>Base P01 = 211.826 + 254.083 + 214.366 + 176.132 = 856.407, rounded to 856k.</a:t>
            </a:r>
          </a:p>
          <a:p>
            <a:r>
              <a:rPr lang="en-US" dirty="0"/>
              <a:t>Weekly split rounds to 212 / 254 / 214 / 176k.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69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Calculation notes: this slide separates the signed factory forecast from conditional promotion upside.</a:t>
            </a:r>
          </a:p>
          <a:p>
            <a:r>
              <a:rPr lang="en-US"/>
              <a:t>Base forecast equation: clean P13 ordered demand = 211.826 + 254.083 + 214.366 + 176.132 = 856.407k, rounded to 856k.</a:t>
            </a:r>
          </a:p>
          <a:p>
            <a:r>
              <a:rPr lang="en-US"/>
              <a:t>Signed promo equation: W1 base + Customer 1 median promo demand in W2 and W3 + W4 base.</a:t>
            </a:r>
          </a:p>
          <a:p>
            <a:r>
              <a:rPr lang="en-US"/>
              <a:t>Signed promo = 211.826 + 377.856 + 377.856 + 176.132 = 1,143.671k, rounded to 1,144k.</a:t>
            </a:r>
          </a:p>
          <a:p>
            <a:r>
              <a:rPr lang="en-US"/>
              <a:t>Upside sensitivity = 211.826 + 429.254 + 429.254 + 176.132 = 1,246.466k, rounded to 1,246k.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Calculation notes: the 856k no-promotion forecast uses the latest clean P13 weekly demand.</a:t>
            </a:r>
          </a:p>
          <a:p>
            <a:r>
              <a:rPr lang="en-US"/>
              <a:t>Equation: Base_w = estimated ordered demand for the matching P13 week of period, where no promotion and casefill &gt;= 95%.</a:t>
            </a:r>
          </a:p>
          <a:p>
            <a:r>
              <a:rPr lang="en-US"/>
              <a:t>Base total = 211.826 + 254.083 + 214.366 + 176.132 = 856.407k, rounded to 856k.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93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Calculation notes: shipments are corrected for casefill before being interpreted as demand.</a:t>
            </a:r>
          </a:p>
          <a:p>
            <a:r>
              <a:rPr lang="en-US"/>
              <a:t>Equation: Estimated ordered demand_t = delivered actual_t / casefill_t.</a:t>
            </a:r>
          </a:p>
          <a:p>
            <a:r>
              <a:rPr lang="en-US"/>
              <a:t>Equation: Service loss_t = estimated ordered demand_t - delivered actual_t.</a:t>
            </a:r>
          </a:p>
          <a:p>
            <a:r>
              <a:rPr lang="en-US"/>
              <a:t>Clean base filter: no promotion and casefill &gt;= 95%.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Calculation notes: scenario governance avoids blending commercial ambition into the factory signal.</a:t>
            </a:r>
          </a:p>
          <a:p>
            <a:r>
              <a:rPr lang="en-US"/>
              <a:t>Base scenario = sum(clean P13 weekly ordered demand) = 856k.</a:t>
            </a:r>
          </a:p>
          <a:p>
            <a:r>
              <a:rPr lang="en-US"/>
              <a:t>Signed promo scenario = base W1 + Customer 1 promo median for W2/W3 + base W4 = 1,144k.</a:t>
            </a:r>
          </a:p>
          <a:p>
            <a:r>
              <a:rPr lang="en-US"/>
              <a:t>Upside sensitivity = base W1 + Q75 promo demand for W2/W3 + base W4 = 1,246k.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Calculation notes: assumptions define which data is eligible for the base forecast.</a:t>
            </a:r>
          </a:p>
          <a:p>
            <a:r>
              <a:rPr lang="en-US"/>
              <a:t>Recent clean demand filter = period number &gt;= 10, no promotion, and casefill &gt;= 95%.</a:t>
            </a:r>
          </a:p>
          <a:p>
            <a:r>
              <a:rPr lang="en-US"/>
              <a:t>P13 is used because it is the latest clean four-week period; fallback would use recent clean week-of-period medians if P13 were incomplete.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Calculation notes: Sales discussion should use the same scenario math as the forecast deck.</a:t>
            </a:r>
          </a:p>
          <a:p>
            <a:r>
              <a:rPr lang="en-US"/>
              <a:t>Base = 856k; signed two-week promo = 1,144k; upside sensitivity = 1,246k.</a:t>
            </a:r>
          </a:p>
          <a:p>
            <a:r>
              <a:rPr lang="en-US"/>
              <a:t>Do not average scenarios: a promotion either has signed mechanics and volume commitment, or it remains a risk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Calculation notes: sign-off anchors on one factory number plus conditional gates.</a:t>
            </a:r>
          </a:p>
          <a:p>
            <a:r>
              <a:rPr lang="en-US"/>
              <a:t>Factory sign-off now = 856k.</a:t>
            </a:r>
          </a:p>
          <a:p>
            <a:r>
              <a:rPr lang="en-US"/>
              <a:t>Conditional update = 1,144k only if Sales signs customer, mechanic, dates, weekly phasing, committed orders, and Supply Chain confirms feasibility.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Calculation notes: service context is calculated from </a:t>
            </a:r>
            <a:r>
              <a:rPr lang="en-US" dirty="0" err="1"/>
              <a:t>casefill</a:t>
            </a:r>
            <a:r>
              <a:rPr lang="en-US" dirty="0"/>
              <a:t>.</a:t>
            </a:r>
          </a:p>
          <a:p>
            <a:r>
              <a:rPr lang="en-US" dirty="0"/>
              <a:t>Service-affected weeks = count(week where </a:t>
            </a:r>
            <a:r>
              <a:rPr lang="en-US" dirty="0" err="1"/>
              <a:t>casefill</a:t>
            </a:r>
            <a:r>
              <a:rPr lang="en-US" dirty="0"/>
              <a:t> &lt; 95%) = 5.</a:t>
            </a:r>
          </a:p>
          <a:p>
            <a:r>
              <a:rPr lang="en-US" dirty="0"/>
              <a:t>Estimated service loss = sum(</a:t>
            </a:r>
            <a:r>
              <a:rPr lang="en-US" dirty="0" err="1"/>
              <a:t>actual_t</a:t>
            </a:r>
            <a:r>
              <a:rPr lang="en-US" dirty="0"/>
              <a:t> / </a:t>
            </a:r>
            <a:r>
              <a:rPr lang="en-US" dirty="0" err="1"/>
              <a:t>casefill_t</a:t>
            </a:r>
            <a:r>
              <a:rPr lang="en-US" dirty="0"/>
              <a:t> - </a:t>
            </a:r>
            <a:r>
              <a:rPr lang="en-US" dirty="0" err="1"/>
              <a:t>actual_t</a:t>
            </a:r>
            <a:r>
              <a:rPr lang="en-US" dirty="0"/>
              <a:t>) for service-affected weeks = 234.896, rounded to 235k.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Calculation notes: promotion evidence uses estimated ordered demand, not delivered shipments.</a:t>
            </a:r>
          </a:p>
          <a:p>
            <a:r>
              <a:rPr lang="en-US"/>
              <a:t>Customer 1 median promo week = median(estimated ordered demand where Customer 1 promo) = 377.856k, rounded to 378k.</a:t>
            </a:r>
          </a:p>
          <a:p>
            <a:r>
              <a:rPr lang="en-US"/>
              <a:t>Customer 2 median promo week = median(estimated ordered demand where Customer 2 promo) = 276.629k, rounded to 277k.</a:t>
            </a:r>
          </a:p>
          <a:p>
            <a:r>
              <a:rPr lang="en-US"/>
              <a:t>Upside promo week = Q75(estimated ordered demand across all promo weeks) = 429.254k, rounded to 429k.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Calculation notes: base forecast is triangulated against multiple clean demand reads.</a:t>
            </a:r>
          </a:p>
          <a:p>
            <a:r>
              <a:rPr lang="en-US"/>
              <a:t>P01 2021 ordered demand = sum(estimated ordered demand where period = P01) = 710.232k, rounded to 710k.</a:t>
            </a:r>
          </a:p>
          <a:p>
            <a:r>
              <a:rPr lang="en-US"/>
              <a:t>P13 2021 ordered demand = sum(estimated ordered demand where period = P13) = 856.407k, rounded to 856k.</a:t>
            </a:r>
          </a:p>
          <a:p>
            <a:r>
              <a:rPr lang="en-US"/>
              <a:t>Recent clean median x4 = 211.826 x 4 = 847.304k, rounded to 847k.</a:t>
            </a:r>
          </a:p>
          <a:p>
            <a:r>
              <a:rPr lang="en-US"/>
              <a:t>Recent clean mean x4 = 217.622 x 4 = 870.488k, rounded to 870k.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Calculation notes: scenario table formulas.</a:t>
            </a:r>
          </a:p>
          <a:p>
            <a:r>
              <a:rPr lang="en-US"/>
              <a:t>Base = 211.826 + 254.083 + 214.366 + 176.132 = 856.407k, rounded to 856k.</a:t>
            </a:r>
          </a:p>
          <a:p>
            <a:r>
              <a:rPr lang="en-US"/>
              <a:t>Signed promo = 211.826 + 377.856 + 377.856 + 176.132 = 1,143.671k, rounded to 1,144k.</a:t>
            </a:r>
          </a:p>
          <a:p>
            <a:r>
              <a:rPr lang="en-US"/>
              <a:t>Upside = 211.826 + 429.254 + 429.254 + 176.132 = 1,246.466k, rounded to 1,246k.</a:t>
            </a:r>
          </a:p>
          <a:p>
            <a:r>
              <a:rPr lang="en-US"/>
              <a:t>Promotion uplift versus base = (promo week value - base W2) + (promo week value - base W3).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4094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9905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476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68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mailto:zhongyang.hu.rs@gmail.co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high_end_product_marketing_infographic_st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0B1B2A">
              <a:alpha val="87000"/>
            </a:srgbClr>
          </a:solidFill>
          <a:ln w="12700">
            <a:solidFill>
              <a:srgbClr val="0B1B2A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12344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Mars Real Deal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21792" y="187452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0D19C"/>
                </a:solidFill>
              </a:rPr>
              <a:t>January 2022 Forecast for Production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621792" y="2395728"/>
            <a:ext cx="2286000" cy="0"/>
          </a:xfrm>
          <a:prstGeom prst="line">
            <a:avLst/>
          </a:prstGeom>
          <a:noFill/>
          <a:ln w="25400">
            <a:solidFill>
              <a:srgbClr val="F0D19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" y="265176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By: Zhongyang Hu (</a:t>
            </a:r>
            <a:r>
              <a:rPr lang="en-US" sz="1500" b="1" dirty="0" err="1">
                <a:solidFill>
                  <a:schemeClr val="bg1"/>
                </a:solidFill>
              </a:rPr>
              <a:t>Zon</a:t>
            </a:r>
            <a:r>
              <a:rPr lang="en-US" sz="1500" b="1" dirty="0">
                <a:solidFill>
                  <a:schemeClr val="bg1"/>
                </a:solidFill>
              </a:rPr>
              <a:t>-Jan Hu)</a:t>
            </a:r>
          </a:p>
        </p:txBody>
      </p:sp>
      <p:sp>
        <p:nvSpPr>
          <p:cNvPr id="8" name="Text 5"/>
          <p:cNvSpPr/>
          <p:nvPr/>
        </p:nvSpPr>
        <p:spPr>
          <a:xfrm>
            <a:off x="621792" y="5714999"/>
            <a:ext cx="4754880" cy="6074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8EEF4"/>
                </a:solidFill>
              </a:rPr>
              <a:t>Email: </a:t>
            </a:r>
            <a:r>
              <a:rPr lang="en-US" sz="1200" dirty="0">
                <a:solidFill>
                  <a:srgbClr val="E8EEF4"/>
                </a:solidFill>
                <a:hlinkClick r:id="rId4"/>
              </a:rPr>
              <a:t>zhongyang.hu.rs@gmail.com</a:t>
            </a:r>
            <a:endParaRPr lang="en-US" sz="1200" dirty="0">
              <a:solidFill>
                <a:srgbClr val="E8EEF4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chemeClr val="bg1"/>
                </a:solidFill>
              </a:rPr>
              <a:t>11-06-2026  @ </a:t>
            </a:r>
            <a:r>
              <a:rPr lang="en-US" sz="1200" b="1" dirty="0" err="1">
                <a:solidFill>
                  <a:schemeClr val="bg1"/>
                </a:solidFill>
              </a:rPr>
              <a:t>Veghel</a:t>
            </a:r>
            <a:endParaRPr lang="en-US" sz="1200" b="1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FA0A1A-515F-7315-7719-C72D93981C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399390"/>
            <a:ext cx="1955945" cy="19559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06A186E-98F1-5A20-8B30-0FA52091BA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4833" y="3399390"/>
            <a:ext cx="1957128" cy="19571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1622E5BE-432E-4794-B7C8-2C1BB32648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2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F75946-5EB3-44C0-A8A2-9DFB1AF5C6E8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3143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9E1B32"/>
                </a:solidFill>
                <a:latin typeface="Aptos"/>
                <a:ea typeface="Aptos"/>
                <a:cs typeface="Aptos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9E1B32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FORECAST DECISION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D0D387-BB45-4A74-9097-5FA3ECC106C7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8572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263238"/>
                </a:solidFill>
                <a:latin typeface="Aptos Display"/>
                <a:ea typeface="Aptos Display"/>
                <a:cs typeface="Aptos Display"/>
              </a:defRPr>
            </a:pPr>
            <a:r>
              <a:rPr kumimoji="0" lang="en-GB" sz="3150" b="1" i="0" u="none" strike="noStrike" kern="1200" cap="none" spc="0" normalizeH="0" baseline="0" noProof="0" dirty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Aptos Display"/>
                <a:ea typeface="Aptos Display"/>
                <a:cs typeface="Aptos Display"/>
              </a:rPr>
              <a:t>Agenda</a:t>
            </a:r>
            <a:endParaRPr kumimoji="0" sz="3150" b="1" i="0" u="none" strike="noStrike" kern="1200" cap="none" spc="0" normalizeH="0" baseline="0" noProof="0" dirty="0">
              <a:ln>
                <a:noFill/>
              </a:ln>
              <a:solidFill>
                <a:srgbClr val="263238"/>
              </a:solidFill>
              <a:effectLst/>
              <a:uLnTx/>
              <a:uFillTx/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1B527F-5EC8-3E96-CFD4-9AB72141552E}"/>
              </a:ext>
            </a:extLst>
          </p:cNvPr>
          <p:cNvSpPr txBox="1"/>
          <p:nvPr/>
        </p:nvSpPr>
        <p:spPr>
          <a:xfrm>
            <a:off x="552450" y="1971490"/>
            <a:ext cx="6351270" cy="3580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Inquiry about </a:t>
            </a:r>
            <a:r>
              <a:rPr lang="en-NL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additional information</a:t>
            </a:r>
            <a:endParaRPr lang="en-GB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endParaRPr lang="en-NL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Non-firmed </a:t>
            </a:r>
            <a:r>
              <a:rPr lang="en-GB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production</a:t>
            </a:r>
            <a:r>
              <a:rPr lang="en-NL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forecast </a:t>
            </a:r>
            <a:r>
              <a:rPr lang="en-N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January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P01 (W1-W4)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endParaRPr lang="en-NL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Review of </a:t>
            </a:r>
            <a:r>
              <a:rPr lang="en-NL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assumptions</a:t>
            </a:r>
            <a:endParaRPr lang="en-GB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endParaRPr lang="en-NL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en-GB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resent 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sales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endParaRPr lang="en-NL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et sales on board to </a:t>
            </a:r>
            <a:r>
              <a:rPr lang="en-GB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sign them off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endParaRPr lang="en-NL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Follow-up</a:t>
            </a:r>
            <a:endParaRPr lang="en-NL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03B87FD9-2ACA-E2E7-6E17-37BB23B9E18C}"/>
              </a:ext>
            </a:extLst>
          </p:cNvPr>
          <p:cNvSpPr/>
          <p:nvPr/>
        </p:nvSpPr>
        <p:spPr>
          <a:xfrm>
            <a:off x="6930390" y="1572768"/>
            <a:ext cx="4709160" cy="4526280"/>
          </a:xfrm>
          <a:prstGeom prst="roundRect">
            <a:avLst>
              <a:gd name="adj" fmla="val 1010"/>
            </a:avLst>
          </a:prstGeom>
          <a:solidFill>
            <a:srgbClr val="FBF7EF"/>
          </a:solidFill>
          <a:ln w="8890">
            <a:solidFill>
              <a:srgbClr val="E6D6BC"/>
            </a:solidFill>
            <a:prstDash val="solid"/>
          </a:ln>
        </p:spPr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28AFE236-D220-AC4D-1858-9683EA44FE3B}"/>
              </a:ext>
            </a:extLst>
          </p:cNvPr>
          <p:cNvSpPr/>
          <p:nvPr/>
        </p:nvSpPr>
        <p:spPr>
          <a:xfrm>
            <a:off x="7204710" y="18470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3B58"/>
                </a:solidFill>
              </a:rPr>
              <a:t>Non-firmed Production Forecast</a:t>
            </a:r>
            <a:endParaRPr lang="en-US" sz="1500" dirty="0"/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F96F7372-287E-6372-7CAB-61E9645663EC}"/>
              </a:ext>
            </a:extLst>
          </p:cNvPr>
          <p:cNvSpPr/>
          <p:nvPr/>
        </p:nvSpPr>
        <p:spPr>
          <a:xfrm>
            <a:off x="7204710" y="224942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573019"/>
                </a:solidFill>
              </a:rPr>
              <a:t>856,407 cases</a:t>
            </a:r>
            <a:endParaRPr lang="en-US" sz="4400" dirty="0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A02EC706-5785-7D26-2A0F-D44E44D1D1B0}"/>
              </a:ext>
            </a:extLst>
          </p:cNvPr>
          <p:cNvSpPr/>
          <p:nvPr/>
        </p:nvSpPr>
        <p:spPr>
          <a:xfrm>
            <a:off x="7222998" y="29535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7727E"/>
                </a:solidFill>
              </a:rPr>
              <a:t>January 2022 total for P01</a:t>
            </a:r>
            <a:endParaRPr lang="en-US" sz="1100" dirty="0"/>
          </a:p>
        </p:txBody>
      </p:sp>
      <p:graphicFrame>
        <p:nvGraphicFramePr>
          <p:cNvPr id="41" name="Chart 0">
            <a:extLst>
              <a:ext uri="{FF2B5EF4-FFF2-40B4-BE49-F238E27FC236}">
                <a16:creationId xmlns:a16="http://schemas.microsoft.com/office/drawing/2014/main" id="{992F0C4E-C959-5A95-FE48-AFD2276764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9362648"/>
              </p:ext>
            </p:extLst>
          </p:nvPr>
        </p:nvGraphicFramePr>
        <p:xfrm>
          <a:off x="7204710" y="3429000"/>
          <a:ext cx="38862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2" name="Text 7">
            <a:extLst>
              <a:ext uri="{FF2B5EF4-FFF2-40B4-BE49-F238E27FC236}">
                <a16:creationId xmlns:a16="http://schemas.microsoft.com/office/drawing/2014/main" id="{9920F74A-4C83-1211-7988-A31F2EA0E1F2}"/>
              </a:ext>
            </a:extLst>
          </p:cNvPr>
          <p:cNvSpPr/>
          <p:nvPr/>
        </p:nvSpPr>
        <p:spPr>
          <a:xfrm>
            <a:off x="7222998" y="532180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3B58"/>
                </a:solidFill>
              </a:rPr>
              <a:t>Weekly split: 212 / 254 / 214 / 176k</a:t>
            </a:r>
            <a:endParaRPr lang="en-US" sz="1100" dirty="0"/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8AFC376B-4BD4-E5BC-31EC-ADE7C7C79105}"/>
              </a:ext>
            </a:extLst>
          </p:cNvPr>
          <p:cNvSpPr/>
          <p:nvPr/>
        </p:nvSpPr>
        <p:spPr>
          <a:xfrm>
            <a:off x="502920" y="6601968"/>
            <a:ext cx="6400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8F98"/>
                </a:solidFill>
              </a:rPr>
              <a:t>Mars Real Deal • January 2022 forecast discussion</a:t>
            </a:r>
            <a:endParaRPr lang="en-US" sz="680" dirty="0"/>
          </a:p>
        </p:txBody>
      </p:sp>
    </p:spTree>
    <p:extLst>
      <p:ext uri="{BB962C8B-B14F-4D97-AF65-F5344CB8AC3E}">
        <p14:creationId xmlns:p14="http://schemas.microsoft.com/office/powerpoint/2010/main" val="43952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400" b="1" dirty="0">
                <a:solidFill>
                  <a:srgbClr val="183B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Inquiry about key additional information</a:t>
            </a:r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050" dirty="0">
                <a:solidFill>
                  <a:srgbClr val="67727E"/>
                </a:solidFill>
              </a:rPr>
              <a:t>What is the key additional information you would like to have?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13970">
            <a:solidFill>
              <a:srgbClr val="C9872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6601968"/>
            <a:ext cx="6400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8F98"/>
                </a:solidFill>
              </a:rPr>
              <a:t>Mars Real Deal • January 2022 forecast discussion</a:t>
            </a:r>
            <a:endParaRPr lang="en-US" sz="680" dirty="0"/>
          </a:p>
        </p:txBody>
      </p:sp>
      <p:sp>
        <p:nvSpPr>
          <p:cNvPr id="22" name="Text 19"/>
          <p:cNvSpPr/>
          <p:nvPr/>
        </p:nvSpPr>
        <p:spPr>
          <a:xfrm>
            <a:off x="11384280" y="6583680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67727E"/>
                </a:solidFill>
              </a:rPr>
              <a:t>02</a:t>
            </a:r>
            <a:endParaRPr lang="en-US" sz="700" dirty="0"/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C25CD5E7-0B90-A94A-3F43-8CA6BE854CAE}"/>
              </a:ext>
            </a:extLst>
          </p:cNvPr>
          <p:cNvSpPr/>
          <p:nvPr/>
        </p:nvSpPr>
        <p:spPr>
          <a:xfrm>
            <a:off x="502920" y="1399902"/>
            <a:ext cx="11173968" cy="4910328"/>
          </a:xfrm>
          <a:prstGeom prst="roundRect">
            <a:avLst>
              <a:gd name="adj" fmla="val 1000"/>
            </a:avLst>
          </a:prstGeom>
          <a:solidFill>
            <a:srgbClr val="FBF7EF"/>
          </a:solidFill>
          <a:ln w="8890">
            <a:solidFill>
              <a:srgbClr val="E6D6BC"/>
            </a:solidFill>
            <a:prstDash val="solid"/>
          </a:ln>
        </p:spPr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59780878-293A-7796-A972-ED5C5F31D068}"/>
              </a:ext>
            </a:extLst>
          </p:cNvPr>
          <p:cNvSpPr/>
          <p:nvPr/>
        </p:nvSpPr>
        <p:spPr>
          <a:xfrm>
            <a:off x="502919" y="1399902"/>
            <a:ext cx="8714233" cy="330838"/>
          </a:xfrm>
          <a:prstGeom prst="rect">
            <a:avLst/>
          </a:prstGeom>
          <a:solidFill>
            <a:srgbClr val="C98728"/>
          </a:solidFill>
          <a:ln w="12700">
            <a:solidFill>
              <a:srgbClr val="C98728"/>
            </a:solidFill>
            <a:prstDash val="solid"/>
          </a:ln>
        </p:spPr>
        <p:txBody>
          <a:bodyPr/>
          <a:lstStyle/>
          <a:p>
            <a:r>
              <a:rPr lang="en-GB" sz="1800" i="1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Given </a:t>
            </a:r>
            <a:r>
              <a:rPr lang="en-GB" i="1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en-NL" sz="1800" i="1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</a:t>
            </a:r>
            <a:r>
              <a:rPr lang="en-GB" i="1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</a:t>
            </a:r>
            <a:r>
              <a:rPr lang="en-GB" sz="1800" i="1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ales team</a:t>
            </a:r>
            <a:r>
              <a:rPr lang="en-NL" sz="1800" i="1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want to take the success into January by pushing for a promotion </a:t>
            </a:r>
            <a:endParaRPr lang="en-GB" sz="1800" i="1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NL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54DA43-7177-811C-AE60-741FB07453C6}"/>
              </a:ext>
            </a:extLst>
          </p:cNvPr>
          <p:cNvSpPr txBox="1"/>
          <p:nvPr/>
        </p:nvSpPr>
        <p:spPr>
          <a:xfrm>
            <a:off x="655318" y="1602581"/>
            <a:ext cx="10728962" cy="4393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i="1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sz="1600" b="1" dirty="0">
                <a:latin typeface="Aptos" panose="020B0004020202020204" pitchFamily="34" charset="0"/>
              </a:rPr>
              <a:t>January promotion details</a:t>
            </a:r>
            <a:r>
              <a:rPr lang="en-GB" sz="1600" dirty="0">
                <a:solidFill>
                  <a:schemeClr val="bg2">
                    <a:lumMod val="75000"/>
                  </a:schemeClr>
                </a:solidFill>
                <a:latin typeface="Aptos" panose="020B0004020202020204" pitchFamily="34" charset="0"/>
              </a:rPr>
              <a:t>: customer, timing, mechanic, depth of promotion, and whether it is comparable to Customer 1 and/or Customer 2 promotions in 2021.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sz="1600" b="1" dirty="0">
                <a:latin typeface="Aptos" panose="020B0004020202020204" pitchFamily="34" charset="0"/>
              </a:rPr>
              <a:t>Current stock</a:t>
            </a:r>
            <a:r>
              <a:rPr lang="en-GB" sz="1600" b="1" dirty="0">
                <a:solidFill>
                  <a:schemeClr val="bg2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GB" sz="1600" b="1" dirty="0">
                <a:latin typeface="Aptos" panose="020B0004020202020204" pitchFamily="34" charset="0"/>
              </a:rPr>
              <a:t>and lost-sales </a:t>
            </a:r>
            <a:r>
              <a:rPr lang="en-GB" sz="1600" dirty="0">
                <a:solidFill>
                  <a:schemeClr val="bg2">
                    <a:lumMod val="75000"/>
                  </a:schemeClr>
                </a:solidFill>
                <a:latin typeface="Aptos" panose="020B0004020202020204" pitchFamily="34" charset="0"/>
              </a:rPr>
              <a:t>position: especially because P12 / weeks 44–48 show a significant service-level drop, meaning actuals may understate true demand.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sz="1600" b="1" dirty="0">
                <a:latin typeface="Aptos" panose="020B0004020202020204" pitchFamily="34" charset="0"/>
              </a:rPr>
              <a:t>January factory capacity and supply feasibility</a:t>
            </a:r>
            <a:r>
              <a:rPr lang="en-GB" sz="1600" dirty="0">
                <a:solidFill>
                  <a:schemeClr val="bg2">
                    <a:lumMod val="75000"/>
                  </a:schemeClr>
                </a:solidFill>
                <a:latin typeface="Aptos" panose="020B0004020202020204" pitchFamily="34" charset="0"/>
              </a:rPr>
              <a:t>: to understand whether a promotional uplift can actually be produced and delivered.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sz="1600" b="1" dirty="0">
                <a:latin typeface="Aptos" panose="020B0004020202020204" pitchFamily="34" charset="0"/>
              </a:rPr>
              <a:t>Customer/order commitments</a:t>
            </a:r>
            <a:r>
              <a:rPr lang="en-GB" sz="1600" dirty="0">
                <a:solidFill>
                  <a:schemeClr val="bg2">
                    <a:lumMod val="75000"/>
                  </a:schemeClr>
                </a:solidFill>
                <a:latin typeface="Aptos" panose="020B0004020202020204" pitchFamily="34" charset="0"/>
              </a:rPr>
              <a:t>: confirmed orders, retailer agreements, display commitments, and any agreed customer volumes by week.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sz="1600" b="1" dirty="0">
                <a:latin typeface="Aptos" panose="020B0004020202020204" pitchFamily="34" charset="0"/>
              </a:rPr>
              <a:t>Evidence for the expected uplift</a:t>
            </a:r>
            <a:r>
              <a:rPr lang="en-GB" sz="1600" dirty="0">
                <a:solidFill>
                  <a:schemeClr val="bg2">
                    <a:lumMod val="75000"/>
                  </a:schemeClr>
                </a:solidFill>
                <a:latin typeface="Aptos" panose="020B0004020202020204" pitchFamily="34" charset="0"/>
              </a:rPr>
              <a:t>: historical uplift from comparable promotions, whether it was incremental or forward-buying, and whether past data was affected by supply constraints.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sz="1600" b="1" dirty="0">
                <a:latin typeface="Aptos" panose="020B0004020202020204" pitchFamily="34" charset="0"/>
              </a:rPr>
              <a:t>Post-promotion impact</a:t>
            </a:r>
            <a:r>
              <a:rPr lang="en-GB" sz="1600" dirty="0">
                <a:solidFill>
                  <a:schemeClr val="bg2">
                    <a:lumMod val="75000"/>
                  </a:schemeClr>
                </a:solidFill>
                <a:latin typeface="Aptos" panose="020B0004020202020204" pitchFamily="34" charset="0"/>
              </a:rPr>
              <a:t>: whether January demand will be incremental or partly borrowed from February.</a:t>
            </a:r>
            <a:endParaRPr lang="en-NL" sz="1600" dirty="0">
              <a:solidFill>
                <a:schemeClr val="bg2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873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400" b="1" dirty="0">
                <a:solidFill>
                  <a:srgbClr val="183B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Non-firmed production forecast for January P01 (W1-W4)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13970">
            <a:solidFill>
              <a:srgbClr val="C9872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23560" y="1298448"/>
            <a:ext cx="598932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8890">
            <a:solidFill>
              <a:srgbClr val="D6DD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16002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46B9C"/>
                </a:solidFill>
              </a:rPr>
              <a:t>1,144k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943600" y="2039112"/>
            <a:ext cx="23317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Signed two-week promotion scenario - not the factory forecast without sign-off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979408" y="16002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B64A3D"/>
                </a:solidFill>
              </a:rPr>
              <a:t>856k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8979408" y="2039112"/>
            <a:ext cx="20574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Clean P13 demand after casefill adjustment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989320" y="2761488"/>
            <a:ext cx="5166360" cy="0"/>
          </a:xfrm>
          <a:prstGeom prst="line">
            <a:avLst/>
          </a:prstGeom>
          <a:noFill/>
          <a:ln w="12700">
            <a:solidFill>
              <a:srgbClr val="D6DD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017520"/>
            <a:ext cx="50292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Base forecast reflects the latest clean four-week demand signal and avoids reacting to shipment noise.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989320" y="3703320"/>
            <a:ext cx="51206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Promotion upside stays transparent as a scenario until Sales confirms mechanics, customers, timing and funding.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989320" y="4480560"/>
            <a:ext cx="5029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Supply Chain separately confirms feasibility: capacity, inventory, allocation rules and recovery plan.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384280" y="6583680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67727E"/>
                </a:solidFill>
              </a:rPr>
              <a:t>03</a:t>
            </a:r>
            <a:endParaRPr lang="en-US" sz="700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7E8D7C86-DD29-33A0-ED95-513254AEF713}"/>
              </a:ext>
            </a:extLst>
          </p:cNvPr>
          <p:cNvSpPr/>
          <p:nvPr/>
        </p:nvSpPr>
        <p:spPr>
          <a:xfrm>
            <a:off x="530352" y="768096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050" dirty="0">
                <a:solidFill>
                  <a:srgbClr val="67727E"/>
                </a:solidFill>
              </a:rPr>
              <a:t>What forecast would you provide for January?</a:t>
            </a:r>
            <a:endParaRPr lang="en-US" sz="105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01BE6ADA-8B82-F9D2-B57F-76285C257F9A}"/>
              </a:ext>
            </a:extLst>
          </p:cNvPr>
          <p:cNvSpPr/>
          <p:nvPr/>
        </p:nvSpPr>
        <p:spPr>
          <a:xfrm>
            <a:off x="502920" y="6601968"/>
            <a:ext cx="6400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8F98"/>
                </a:solidFill>
              </a:rPr>
              <a:t>Mars Real Deal • January 2022 forecast discussion</a:t>
            </a:r>
            <a:endParaRPr lang="en-US" sz="680" dirty="0"/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7F8EF875-5D77-71FE-61A9-9E44B20D6318}"/>
              </a:ext>
            </a:extLst>
          </p:cNvPr>
          <p:cNvSpPr/>
          <p:nvPr/>
        </p:nvSpPr>
        <p:spPr>
          <a:xfrm>
            <a:off x="502920" y="1304979"/>
            <a:ext cx="4709160" cy="4526280"/>
          </a:xfrm>
          <a:prstGeom prst="roundRect">
            <a:avLst>
              <a:gd name="adj" fmla="val 1010"/>
            </a:avLst>
          </a:prstGeom>
          <a:solidFill>
            <a:srgbClr val="FBF7EF"/>
          </a:solidFill>
          <a:ln w="8890">
            <a:solidFill>
              <a:srgbClr val="E6D6BC"/>
            </a:solidFill>
            <a:prstDash val="solid"/>
          </a:ln>
        </p:spPr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4AA00B04-178E-04EE-676A-73D811635C2B}"/>
              </a:ext>
            </a:extLst>
          </p:cNvPr>
          <p:cNvSpPr/>
          <p:nvPr/>
        </p:nvSpPr>
        <p:spPr>
          <a:xfrm>
            <a:off x="777240" y="1579299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3B58"/>
                </a:solidFill>
              </a:rPr>
              <a:t>Non-firmed Production Forecast</a:t>
            </a:r>
            <a:endParaRPr lang="en-US" sz="150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B197339F-1113-BA86-32AF-A3C1AF785F85}"/>
              </a:ext>
            </a:extLst>
          </p:cNvPr>
          <p:cNvSpPr/>
          <p:nvPr/>
        </p:nvSpPr>
        <p:spPr>
          <a:xfrm>
            <a:off x="777240" y="1981635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573019"/>
                </a:solidFill>
              </a:rPr>
              <a:t>856,407 cases</a:t>
            </a:r>
            <a:endParaRPr lang="en-US" sz="4400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D20726DF-0561-AB76-94EF-C88BE7EF4526}"/>
              </a:ext>
            </a:extLst>
          </p:cNvPr>
          <p:cNvSpPr/>
          <p:nvPr/>
        </p:nvSpPr>
        <p:spPr>
          <a:xfrm>
            <a:off x="795528" y="2685723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7727E"/>
                </a:solidFill>
              </a:rPr>
              <a:t>January 2022 total for P01</a:t>
            </a:r>
            <a:endParaRPr lang="en-US" sz="1100" dirty="0"/>
          </a:p>
        </p:txBody>
      </p:sp>
      <p:graphicFrame>
        <p:nvGraphicFramePr>
          <p:cNvPr id="29" name="Chart 0">
            <a:extLst>
              <a:ext uri="{FF2B5EF4-FFF2-40B4-BE49-F238E27FC236}">
                <a16:creationId xmlns:a16="http://schemas.microsoft.com/office/drawing/2014/main" id="{07DA0866-CDD6-81E7-7E2B-E5D43D125B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5033503"/>
              </p:ext>
            </p:extLst>
          </p:nvPr>
        </p:nvGraphicFramePr>
        <p:xfrm>
          <a:off x="777240" y="3161211"/>
          <a:ext cx="38862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Text 7">
            <a:extLst>
              <a:ext uri="{FF2B5EF4-FFF2-40B4-BE49-F238E27FC236}">
                <a16:creationId xmlns:a16="http://schemas.microsoft.com/office/drawing/2014/main" id="{DA192B7B-0F99-9FDF-DEDE-DFCCAD51AAD8}"/>
              </a:ext>
            </a:extLst>
          </p:cNvPr>
          <p:cNvSpPr/>
          <p:nvPr/>
        </p:nvSpPr>
        <p:spPr>
          <a:xfrm>
            <a:off x="795528" y="5054019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3B58"/>
                </a:solidFill>
              </a:rPr>
              <a:t>Weekly split: 212 / 254 / 214 / 176k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400" b="1" dirty="0">
                <a:solidFill>
                  <a:srgbClr val="183B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Non-firmed production forecast for January P01 (W1-W4)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13970">
            <a:solidFill>
              <a:srgbClr val="C9872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384280" y="6583680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67727E"/>
                </a:solidFill>
              </a:rPr>
              <a:t>03</a:t>
            </a:r>
            <a:endParaRPr lang="en-US" sz="700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7E8D7C86-DD29-33A0-ED95-513254AEF713}"/>
              </a:ext>
            </a:extLst>
          </p:cNvPr>
          <p:cNvSpPr/>
          <p:nvPr/>
        </p:nvSpPr>
        <p:spPr>
          <a:xfrm>
            <a:off x="530352" y="768096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050" dirty="0">
                <a:solidFill>
                  <a:srgbClr val="67727E"/>
                </a:solidFill>
              </a:rPr>
              <a:t>What forecast would you provide for January?</a:t>
            </a:r>
            <a:endParaRPr lang="en-US" sz="105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01BE6ADA-8B82-F9D2-B57F-76285C257F9A}"/>
              </a:ext>
            </a:extLst>
          </p:cNvPr>
          <p:cNvSpPr/>
          <p:nvPr/>
        </p:nvSpPr>
        <p:spPr>
          <a:xfrm>
            <a:off x="502920" y="6601968"/>
            <a:ext cx="6400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8F98"/>
                </a:solidFill>
              </a:rPr>
              <a:t>Mars Real Deal • January 2022 forecast discussion</a:t>
            </a:r>
            <a:endParaRPr lang="en-US" sz="680" dirty="0"/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7F8EF875-5D77-71FE-61A9-9E44B20D6318}"/>
              </a:ext>
            </a:extLst>
          </p:cNvPr>
          <p:cNvSpPr/>
          <p:nvPr/>
        </p:nvSpPr>
        <p:spPr>
          <a:xfrm>
            <a:off x="502920" y="1304979"/>
            <a:ext cx="4709160" cy="4526280"/>
          </a:xfrm>
          <a:prstGeom prst="roundRect">
            <a:avLst>
              <a:gd name="adj" fmla="val 1010"/>
            </a:avLst>
          </a:prstGeom>
          <a:solidFill>
            <a:srgbClr val="FBF7EF"/>
          </a:solidFill>
          <a:ln w="8890">
            <a:solidFill>
              <a:srgbClr val="E6D6BC"/>
            </a:solidFill>
            <a:prstDash val="solid"/>
          </a:ln>
        </p:spPr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4AA00B04-178E-04EE-676A-73D811635C2B}"/>
              </a:ext>
            </a:extLst>
          </p:cNvPr>
          <p:cNvSpPr/>
          <p:nvPr/>
        </p:nvSpPr>
        <p:spPr>
          <a:xfrm>
            <a:off x="777240" y="1579299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3B58"/>
                </a:solidFill>
              </a:rPr>
              <a:t>Non-firmed Production Forecast</a:t>
            </a:r>
            <a:endParaRPr lang="en-US" sz="150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B197339F-1113-BA86-32AF-A3C1AF785F85}"/>
              </a:ext>
            </a:extLst>
          </p:cNvPr>
          <p:cNvSpPr/>
          <p:nvPr/>
        </p:nvSpPr>
        <p:spPr>
          <a:xfrm>
            <a:off x="777240" y="1981635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573019"/>
                </a:solidFill>
              </a:rPr>
              <a:t>856,407 cases</a:t>
            </a:r>
            <a:endParaRPr lang="en-US" sz="4400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D20726DF-0561-AB76-94EF-C88BE7EF4526}"/>
              </a:ext>
            </a:extLst>
          </p:cNvPr>
          <p:cNvSpPr/>
          <p:nvPr/>
        </p:nvSpPr>
        <p:spPr>
          <a:xfrm>
            <a:off x="795528" y="2685723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7727E"/>
                </a:solidFill>
              </a:rPr>
              <a:t>January 2022 total for P01</a:t>
            </a:r>
            <a:endParaRPr lang="en-US" sz="1100" dirty="0"/>
          </a:p>
        </p:txBody>
      </p:sp>
      <p:graphicFrame>
        <p:nvGraphicFramePr>
          <p:cNvPr id="29" name="Chart 0">
            <a:extLst>
              <a:ext uri="{FF2B5EF4-FFF2-40B4-BE49-F238E27FC236}">
                <a16:creationId xmlns:a16="http://schemas.microsoft.com/office/drawing/2014/main" id="{07DA0866-CDD6-81E7-7E2B-E5D43D125B8A}"/>
              </a:ext>
            </a:extLst>
          </p:cNvPr>
          <p:cNvGraphicFramePr/>
          <p:nvPr/>
        </p:nvGraphicFramePr>
        <p:xfrm>
          <a:off x="777240" y="3161211"/>
          <a:ext cx="38862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Text 7">
            <a:extLst>
              <a:ext uri="{FF2B5EF4-FFF2-40B4-BE49-F238E27FC236}">
                <a16:creationId xmlns:a16="http://schemas.microsoft.com/office/drawing/2014/main" id="{DA192B7B-0F99-9FDF-DEDE-DFCCAD51AAD8}"/>
              </a:ext>
            </a:extLst>
          </p:cNvPr>
          <p:cNvSpPr/>
          <p:nvPr/>
        </p:nvSpPr>
        <p:spPr>
          <a:xfrm>
            <a:off x="795528" y="5054019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3B58"/>
                </a:solidFill>
              </a:rPr>
              <a:t>Weekly split: 212 / 254 / 214 / 176k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35981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B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shipments alone are not enough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13970">
            <a:solidFill>
              <a:srgbClr val="C987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61872"/>
            <a:ext cx="489204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8890">
            <a:solidFill>
              <a:srgbClr val="D8DC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361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B58"/>
                </a:solidFill>
              </a:rPr>
              <a:t>Demand signal hierarchy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1965960"/>
            <a:ext cx="384048" cy="384048"/>
          </a:xfrm>
          <a:prstGeom prst="ellipse">
            <a:avLst/>
          </a:prstGeom>
          <a:solidFill>
            <a:srgbClr val="183B58"/>
          </a:solidFill>
          <a:ln w="12700">
            <a:solidFill>
              <a:srgbClr val="183B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696" y="2057400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89888" y="19659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Clean recent demand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89888" y="224942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7727E"/>
                </a:solidFill>
              </a:rPr>
              <a:t>Use latest non-promo, normal-casefill demand as base rate.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8680" y="2926080"/>
            <a:ext cx="384048" cy="384048"/>
          </a:xfrm>
          <a:prstGeom prst="ellipse">
            <a:avLst/>
          </a:prstGeom>
          <a:solidFill>
            <a:srgbClr val="183B58"/>
          </a:solidFill>
          <a:ln w="12700">
            <a:solidFill>
              <a:srgbClr val="183B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3017520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389888" y="29260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Casefill-adjusted demand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89888" y="320954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7727E"/>
                </a:solidFill>
              </a:rPr>
              <a:t>Rebuild true demand when shipments are constrained.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" y="3886200"/>
            <a:ext cx="384048" cy="384048"/>
          </a:xfrm>
          <a:prstGeom prst="ellipse">
            <a:avLst/>
          </a:prstGeom>
          <a:solidFill>
            <a:srgbClr val="183B58"/>
          </a:solidFill>
          <a:ln w="12700">
            <a:solidFill>
              <a:srgbClr val="183B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3977640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389888" y="38862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Promo scenarios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89888" y="416966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7727E"/>
                </a:solidFill>
              </a:rPr>
              <a:t>Hold upside separate until commercial assumptions are signed.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8680" y="5074920"/>
            <a:ext cx="3977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B64A3D"/>
                </a:solidFill>
              </a:rPr>
              <a:t>Key risk: using raw late-December shipments would under-call factory demand and create service pressure in January.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70448" y="1261872"/>
            <a:ext cx="5440680" cy="4526280"/>
          </a:xfrm>
          <a:prstGeom prst="roundRect">
            <a:avLst>
              <a:gd name="adj" fmla="val 1010"/>
            </a:avLst>
          </a:prstGeom>
          <a:solidFill>
            <a:srgbClr val="FBF7EF"/>
          </a:solidFill>
          <a:ln w="8890">
            <a:solidFill>
              <a:srgbClr val="E6D6BC"/>
            </a:solidFill>
            <a:prstDash val="solid"/>
          </a:ln>
        </p:spPr>
      </p:sp>
      <p:graphicFrame>
        <p:nvGraphicFramePr>
          <p:cNvPr id="21" name="Chart 0"/>
          <p:cNvGraphicFramePr/>
          <p:nvPr/>
        </p:nvGraphicFramePr>
        <p:xfrm>
          <a:off x="6263640" y="1627632"/>
          <a:ext cx="45720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6263640" y="4791456"/>
            <a:ext cx="45262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83B58"/>
                </a:solidFill>
              </a:rPr>
              <a:t>January baseline chosen at 856k: aligned with clean P13 demand, not raw shipment noise or uncommitted promotion upside.</a:t>
            </a:r>
            <a:endParaRPr lang="en-US" sz="1230" dirty="0"/>
          </a:p>
        </p:txBody>
      </p:sp>
      <p:sp>
        <p:nvSpPr>
          <p:cNvPr id="23" name="Text 20"/>
          <p:cNvSpPr/>
          <p:nvPr/>
        </p:nvSpPr>
        <p:spPr>
          <a:xfrm>
            <a:off x="502920" y="6327648"/>
            <a:ext cx="8138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8A8F98"/>
                </a:solidFill>
              </a:rPr>
              <a:t>Source: Business Case – Forecast Analyst requirement and completed forecast workbook.</a:t>
            </a:r>
            <a:endParaRPr lang="en-US" sz="620" dirty="0"/>
          </a:p>
        </p:txBody>
      </p:sp>
      <p:sp>
        <p:nvSpPr>
          <p:cNvPr id="24" name="Text 21"/>
          <p:cNvSpPr/>
          <p:nvPr/>
        </p:nvSpPr>
        <p:spPr>
          <a:xfrm>
            <a:off x="502920" y="6601968"/>
            <a:ext cx="6400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8F98"/>
                </a:solidFill>
              </a:rPr>
              <a:t>Mars Real Deal • January forecast discussion • Dec 2021</a:t>
            </a:r>
            <a:endParaRPr lang="en-US" sz="680" dirty="0"/>
          </a:p>
        </p:txBody>
      </p:sp>
      <p:sp>
        <p:nvSpPr>
          <p:cNvPr id="25" name="Text 22"/>
          <p:cNvSpPr/>
          <p:nvPr/>
        </p:nvSpPr>
        <p:spPr>
          <a:xfrm>
            <a:off x="11384280" y="6583680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67727E"/>
                </a:solidFill>
              </a:rPr>
              <a:t>03</a:t>
            </a:r>
            <a:endParaRPr lang="en-US" sz="700" dirty="0"/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D3F249BB-4714-EE5D-9E50-3D40AA751EB8}"/>
              </a:ext>
            </a:extLst>
          </p:cNvPr>
          <p:cNvSpPr/>
          <p:nvPr/>
        </p:nvSpPr>
        <p:spPr>
          <a:xfrm>
            <a:off x="530352" y="768096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050" dirty="0">
                <a:solidFill>
                  <a:srgbClr val="67727E"/>
                </a:solidFill>
              </a:rPr>
              <a:t>What forecast would you provide for January?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B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Scenario view: keep the official forecast disciplined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13970">
            <a:solidFill>
              <a:srgbClr val="C987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64922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8890">
            <a:solidFill>
              <a:srgbClr val="D8DCE2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914400" y="1691640"/>
          <a:ext cx="571500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960120" y="502920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E7A4D"/>
                </a:solidFill>
              </a:rPr>
              <a:t>Factory signal: signed forecast only — 856k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60120" y="5330952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B64A3D"/>
                </a:solidFill>
              </a:rPr>
              <a:t>Promo upside: 1,144k only after signed evidence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498080" y="1325880"/>
            <a:ext cx="4114800" cy="4480560"/>
          </a:xfrm>
          <a:prstGeom prst="roundRect">
            <a:avLst>
              <a:gd name="adj" fmla="val 1111"/>
            </a:avLst>
          </a:prstGeom>
          <a:solidFill>
            <a:srgbClr val="FBF7EF"/>
          </a:solidFill>
          <a:ln w="8890">
            <a:solidFill>
              <a:srgbClr val="E6D6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18120" y="16642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B58"/>
                </a:solidFill>
              </a:rPr>
              <a:t>Promote only with proof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845552" y="2176272"/>
            <a:ext cx="3291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</a:rPr>
              <a:t>Which customer(s) and weeks?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845552" y="2670048"/>
            <a:ext cx="32918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</a:rPr>
              <a:t>Discount depth, display support and feature space?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845552" y="3273552"/>
            <a:ext cx="3291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</a:rPr>
              <a:t>Committed customer volumes and funding?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45552" y="3767328"/>
            <a:ext cx="329184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</a:rPr>
              <a:t>Capacity and stock allocation confirmed by Supply Chain?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818120" y="4480560"/>
            <a:ext cx="3337560" cy="0"/>
          </a:xfrm>
          <a:prstGeom prst="line">
            <a:avLst/>
          </a:prstGeom>
          <a:noFill/>
          <a:ln w="12700">
            <a:solidFill>
              <a:srgbClr val="D7C6A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45552" y="4718304"/>
            <a:ext cx="324612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573019"/>
                </a:solidFill>
              </a:rPr>
              <a:t>Decision rule: move promo into the factory forecast only when Sales owns the assumptions and Supply Chain confirms feasibility.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02920" y="6327648"/>
            <a:ext cx="8138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8A8F98"/>
                </a:solidFill>
              </a:rPr>
              <a:t>Source: Business Case – Forecast Analyst requirement and completed forecast workbook.</a:t>
            </a:r>
            <a:endParaRPr lang="en-US" sz="620" dirty="0"/>
          </a:p>
        </p:txBody>
      </p:sp>
      <p:sp>
        <p:nvSpPr>
          <p:cNvPr id="18" name="Text 15"/>
          <p:cNvSpPr/>
          <p:nvPr/>
        </p:nvSpPr>
        <p:spPr>
          <a:xfrm>
            <a:off x="502920" y="6601968"/>
            <a:ext cx="6400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8F98"/>
                </a:solidFill>
              </a:rPr>
              <a:t>Mars Real Deal • January forecast discussion • Dec 2021</a:t>
            </a:r>
            <a:endParaRPr lang="en-US" sz="680" dirty="0"/>
          </a:p>
        </p:txBody>
      </p:sp>
      <p:sp>
        <p:nvSpPr>
          <p:cNvPr id="19" name="Text 16"/>
          <p:cNvSpPr/>
          <p:nvPr/>
        </p:nvSpPr>
        <p:spPr>
          <a:xfrm>
            <a:off x="11384280" y="6583680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67727E"/>
                </a:solidFill>
              </a:rPr>
              <a:t>04</a:t>
            </a:r>
            <a:endParaRPr lang="en-US" sz="700" dirty="0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A9B599EB-0309-DB14-A099-44A70FC6E12C}"/>
              </a:ext>
            </a:extLst>
          </p:cNvPr>
          <p:cNvSpPr/>
          <p:nvPr/>
        </p:nvSpPr>
        <p:spPr>
          <a:xfrm>
            <a:off x="530352" y="768096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050" dirty="0">
                <a:solidFill>
                  <a:srgbClr val="67727E"/>
                </a:solidFill>
              </a:rPr>
              <a:t>What forecast would you provide for January?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B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Assumptions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13970">
            <a:solidFill>
              <a:srgbClr val="C987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61872"/>
            <a:ext cx="5349240" cy="45720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8890">
            <a:solidFill>
              <a:srgbClr val="D8DC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61872"/>
            <a:ext cx="5349240" cy="310896"/>
          </a:xfrm>
          <a:prstGeom prst="rect">
            <a:avLst/>
          </a:prstGeom>
          <a:solidFill>
            <a:srgbClr val="183B58"/>
          </a:solidFill>
          <a:ln w="12700">
            <a:solidFill>
              <a:srgbClr val="183B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325880"/>
            <a:ext cx="5129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Assumptions used in the forecast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44805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</a:rPr>
              <a:t>Base-rate demand is best represented by the latest clean four weeks.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44805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</a:rPr>
              <a:t>January has no confirmed promotion in the signed factory forecast.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108960"/>
            <a:ext cx="44805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</a:rPr>
              <a:t>Late December was supply constrained; actual shipments are not true demand.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3749040"/>
            <a:ext cx="44805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</a:rPr>
              <a:t>Historic January gives a floor, but recent demand momentum is more relevant.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4389120"/>
            <a:ext cx="44805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</a:rPr>
              <a:t>Any promotion uplift must be capacity-tested before moving into the factory plan.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6327648"/>
            <a:ext cx="8138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8A8F98"/>
                </a:solidFill>
              </a:rPr>
              <a:t>Source: Business Case – Forecast Analyst requirement and completed forecast workbook.</a:t>
            </a:r>
            <a:endParaRPr lang="en-US" sz="620" dirty="0"/>
          </a:p>
        </p:txBody>
      </p:sp>
      <p:sp>
        <p:nvSpPr>
          <p:cNvPr id="27" name="Text 25"/>
          <p:cNvSpPr/>
          <p:nvPr/>
        </p:nvSpPr>
        <p:spPr>
          <a:xfrm>
            <a:off x="502920" y="6601968"/>
            <a:ext cx="6400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8F98"/>
                </a:solidFill>
              </a:rPr>
              <a:t>Mars Real Deal • January forecast discussion • Dec 2021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11384280" y="6583680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67727E"/>
                </a:solidFill>
              </a:rPr>
              <a:t>05</a:t>
            </a:r>
            <a:endParaRPr lang="en-US" sz="700" dirty="0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848618DC-9093-0E78-8015-C3341D9E64A8}"/>
              </a:ext>
            </a:extLst>
          </p:cNvPr>
          <p:cNvSpPr/>
          <p:nvPr/>
        </p:nvSpPr>
        <p:spPr>
          <a:xfrm>
            <a:off x="530352" y="768096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050" dirty="0">
                <a:solidFill>
                  <a:srgbClr val="67727E"/>
                </a:solidFill>
              </a:rPr>
              <a:t>What assumptions do you make?</a:t>
            </a:r>
            <a:endParaRPr lang="en-US" sz="10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F8623B-007D-A41C-B371-2A3EBE84D8CF}"/>
              </a:ext>
            </a:extLst>
          </p:cNvPr>
          <p:cNvSpPr txBox="1"/>
          <p:nvPr/>
        </p:nvSpPr>
        <p:spPr>
          <a:xfrm>
            <a:off x="6168234" y="1388209"/>
            <a:ext cx="5429406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250" dirty="0">
                <a:solidFill>
                  <a:srgbClr val="111827"/>
                </a:solidFill>
              </a:rPr>
              <a:t>Estimated ordered demand = Actual delivered cases / </a:t>
            </a:r>
            <a:r>
              <a:rPr lang="en-NL" sz="1250" dirty="0" err="1">
                <a:solidFill>
                  <a:srgbClr val="111827"/>
                </a:solidFill>
              </a:rPr>
              <a:t>Casefill</a:t>
            </a:r>
            <a:endParaRPr lang="en-GB" sz="1250" dirty="0">
              <a:solidFill>
                <a:srgbClr val="111827"/>
              </a:solidFill>
            </a:endParaRPr>
          </a:p>
          <a:p>
            <a:endParaRPr lang="en-GB" sz="1250" dirty="0">
              <a:solidFill>
                <a:srgbClr val="111827"/>
              </a:solidFill>
            </a:endParaRPr>
          </a:p>
          <a:p>
            <a:endParaRPr lang="en-NL" sz="1250" dirty="0">
              <a:solidFill>
                <a:srgbClr val="111827"/>
              </a:solidFill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D5322F0-60DE-84DC-34F9-6EEB3738E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2" y="1885993"/>
            <a:ext cx="454016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Promo week = Customer 1 promo OR Customer 2 promo </a:t>
            </a:r>
            <a:endParaRPr lang="en-GB" altLang="en-NL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Non-promo week = no promo flag </a:t>
            </a:r>
            <a:endParaRPr kumimoji="0" lang="en-GB" altLang="en-NL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Clean week = non-promo AND </a:t>
            </a:r>
            <a:r>
              <a:rPr kumimoji="0" lang="en-NL" altLang="en-NL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casefill</a:t>
            </a:r>
            <a:r>
              <a:rPr kumimoji="0" lang="en-NL" altLang="en-N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&gt;= 95%</a:t>
            </a:r>
            <a:r>
              <a:rPr kumimoji="0" lang="en-NL" altLang="en-NL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B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present the case to Sales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13970">
            <a:solidFill>
              <a:srgbClr val="C98728"/>
            </a:solidFill>
            <a:prstDash val="solid"/>
          </a:ln>
        </p:spPr>
      </p:sp>
      <p:pic>
        <p:nvPicPr>
          <p:cNvPr id="5" name="Image 0" descr="/mnt/data/wide_modern_industrial_office_factory_scene_a_bri_batch_2.png"/>
          <p:cNvPicPr>
            <a:picLocks noChangeAspect="1"/>
          </p:cNvPicPr>
          <p:nvPr/>
        </p:nvPicPr>
        <p:blipFill>
          <a:blip r:embed="rId3"/>
          <a:srcRect l="20711" r="20711"/>
          <a:stretch/>
        </p:blipFill>
        <p:spPr>
          <a:xfrm>
            <a:off x="594360" y="1234440"/>
            <a:ext cx="4663440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5074920"/>
            <a:ext cx="4663440" cy="640080"/>
          </a:xfrm>
          <a:prstGeom prst="rect">
            <a:avLst/>
          </a:prstGeom>
          <a:solidFill>
            <a:srgbClr val="0B1B2A">
              <a:alpha val="85000"/>
            </a:srgbClr>
          </a:solidFill>
          <a:ln w="12700">
            <a:solidFill>
              <a:srgbClr val="0B1B2A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525780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Shared goal: sell the upside without putting an unverified number into the factory signal.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623560" y="1234440"/>
            <a:ext cx="598932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8890">
            <a:solidFill>
              <a:srgbClr val="D8DCE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89320" y="1536192"/>
            <a:ext cx="347472" cy="347472"/>
          </a:xfrm>
          <a:prstGeom prst="ellipse">
            <a:avLst/>
          </a:prstGeom>
          <a:solidFill>
            <a:srgbClr val="C98728"/>
          </a:solidFill>
          <a:ln w="12700">
            <a:solidFill>
              <a:srgbClr val="C987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12764" y="161848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492240" y="151790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83B58"/>
                </a:solidFill>
              </a:rPr>
              <a:t>Start with agreement</a:t>
            </a:r>
            <a:endParaRPr lang="en-US" sz="1240" dirty="0"/>
          </a:p>
        </p:txBody>
      </p:sp>
      <p:sp>
        <p:nvSpPr>
          <p:cNvPr id="12" name="Text 9"/>
          <p:cNvSpPr/>
          <p:nvPr/>
        </p:nvSpPr>
        <p:spPr>
          <a:xfrm>
            <a:off x="6492240" y="1792224"/>
            <a:ext cx="4297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11827"/>
                </a:solidFill>
              </a:rPr>
              <a:t>“The product has momentum; the question is how much demand we can safely signal to the factory.”</a:t>
            </a:r>
            <a:endParaRPr lang="en-US" sz="1060" dirty="0"/>
          </a:p>
        </p:txBody>
      </p:sp>
      <p:sp>
        <p:nvSpPr>
          <p:cNvPr id="13" name="Shape 10"/>
          <p:cNvSpPr/>
          <p:nvPr/>
        </p:nvSpPr>
        <p:spPr>
          <a:xfrm>
            <a:off x="5989320" y="2523744"/>
            <a:ext cx="347472" cy="347472"/>
          </a:xfrm>
          <a:prstGeom prst="ellipse">
            <a:avLst/>
          </a:prstGeom>
          <a:solidFill>
            <a:srgbClr val="183B58"/>
          </a:solidFill>
          <a:ln w="12700">
            <a:solidFill>
              <a:srgbClr val="183B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12764" y="260604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492240" y="250545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83B58"/>
                </a:solidFill>
              </a:rPr>
              <a:t>Show the evidence</a:t>
            </a:r>
            <a:endParaRPr lang="en-US" sz="1240" dirty="0"/>
          </a:p>
        </p:txBody>
      </p:sp>
      <p:sp>
        <p:nvSpPr>
          <p:cNvPr id="16" name="Text 13"/>
          <p:cNvSpPr/>
          <p:nvPr/>
        </p:nvSpPr>
        <p:spPr>
          <a:xfrm>
            <a:off x="6492240" y="2779776"/>
            <a:ext cx="4297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11827"/>
                </a:solidFill>
              </a:rPr>
              <a:t>Use casefill-adjusted demand and the clean four-week run rate to explain 856k.</a:t>
            </a:r>
            <a:endParaRPr lang="en-US" sz="1060" dirty="0"/>
          </a:p>
        </p:txBody>
      </p:sp>
      <p:sp>
        <p:nvSpPr>
          <p:cNvPr id="17" name="Shape 14"/>
          <p:cNvSpPr/>
          <p:nvPr/>
        </p:nvSpPr>
        <p:spPr>
          <a:xfrm>
            <a:off x="5989320" y="3511296"/>
            <a:ext cx="347472" cy="347472"/>
          </a:xfrm>
          <a:prstGeom prst="ellipse">
            <a:avLst/>
          </a:prstGeom>
          <a:solidFill>
            <a:srgbClr val="183B58"/>
          </a:solidFill>
          <a:ln w="12700">
            <a:solidFill>
              <a:srgbClr val="183B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12764" y="359359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492240" y="34930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83B58"/>
                </a:solidFill>
              </a:rPr>
              <a:t>Give Sales a path</a:t>
            </a:r>
            <a:endParaRPr lang="en-US" sz="1240" dirty="0"/>
          </a:p>
        </p:txBody>
      </p:sp>
      <p:sp>
        <p:nvSpPr>
          <p:cNvPr id="20" name="Text 17"/>
          <p:cNvSpPr/>
          <p:nvPr/>
        </p:nvSpPr>
        <p:spPr>
          <a:xfrm>
            <a:off x="6492240" y="3767328"/>
            <a:ext cx="4297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11827"/>
                </a:solidFill>
              </a:rPr>
              <a:t>Document the 1,144k scenario and show exactly what confirms it.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5989320" y="4498848"/>
            <a:ext cx="347472" cy="347472"/>
          </a:xfrm>
          <a:prstGeom prst="ellipse">
            <a:avLst/>
          </a:prstGeom>
          <a:solidFill>
            <a:srgbClr val="183B58"/>
          </a:solidFill>
          <a:ln w="12700">
            <a:solidFill>
              <a:srgbClr val="183B5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12764" y="458114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6492240" y="448056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83B58"/>
                </a:solidFill>
              </a:rPr>
              <a:t>Close with governance</a:t>
            </a:r>
            <a:endParaRPr lang="en-US" sz="1240" dirty="0"/>
          </a:p>
        </p:txBody>
      </p:sp>
      <p:sp>
        <p:nvSpPr>
          <p:cNvPr id="24" name="Text 21"/>
          <p:cNvSpPr/>
          <p:nvPr/>
        </p:nvSpPr>
        <p:spPr>
          <a:xfrm>
            <a:off x="6492240" y="4754880"/>
            <a:ext cx="4297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11827"/>
                </a:solidFill>
              </a:rPr>
              <a:t>Ask for a one-page signed assumptions log and Supply Chain feasibility sign-off.</a:t>
            </a:r>
            <a:endParaRPr lang="en-US" sz="1060" dirty="0"/>
          </a:p>
        </p:txBody>
      </p:sp>
      <p:sp>
        <p:nvSpPr>
          <p:cNvPr id="25" name="Text 22"/>
          <p:cNvSpPr/>
          <p:nvPr/>
        </p:nvSpPr>
        <p:spPr>
          <a:xfrm>
            <a:off x="502920" y="6327648"/>
            <a:ext cx="8138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8A8F98"/>
                </a:solidFill>
              </a:rPr>
              <a:t>Source: Business Case – Forecast Analyst requirement and completed forecast workbook.</a:t>
            </a:r>
            <a:endParaRPr lang="en-US" sz="620" dirty="0"/>
          </a:p>
        </p:txBody>
      </p:sp>
      <p:sp>
        <p:nvSpPr>
          <p:cNvPr id="26" name="Text 23"/>
          <p:cNvSpPr/>
          <p:nvPr/>
        </p:nvSpPr>
        <p:spPr>
          <a:xfrm>
            <a:off x="502920" y="6601968"/>
            <a:ext cx="6400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8F98"/>
                </a:solidFill>
              </a:rPr>
              <a:t>Mars Real Deal • January forecast discussion • Dec 2021</a:t>
            </a:r>
            <a:endParaRPr lang="en-US" sz="680" dirty="0"/>
          </a:p>
        </p:txBody>
      </p:sp>
      <p:sp>
        <p:nvSpPr>
          <p:cNvPr id="27" name="Text 24"/>
          <p:cNvSpPr/>
          <p:nvPr/>
        </p:nvSpPr>
        <p:spPr>
          <a:xfrm>
            <a:off x="11384280" y="6583680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67727E"/>
                </a:solidFill>
              </a:rPr>
              <a:t>06</a:t>
            </a:r>
            <a:endParaRPr lang="en-US" sz="700" dirty="0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4E5968FC-1F0B-F4D4-9515-901435430CFA}"/>
              </a:ext>
            </a:extLst>
          </p:cNvPr>
          <p:cNvSpPr/>
          <p:nvPr/>
        </p:nvSpPr>
        <p:spPr>
          <a:xfrm>
            <a:off x="530352" y="768096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050" dirty="0">
                <a:solidFill>
                  <a:srgbClr val="67727E"/>
                </a:solidFill>
              </a:rPr>
              <a:t>What assumptions do you make?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B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Sign-off and follow-up plan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13970">
            <a:solidFill>
              <a:srgbClr val="C987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98448"/>
            <a:ext cx="3383280" cy="443484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8890">
            <a:solidFill>
              <a:srgbClr val="D8DC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093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B58"/>
                </a:solidFill>
              </a:rPr>
              <a:t>Ask Sales to sign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26517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3E7A4D"/>
                </a:solidFill>
              </a:rPr>
              <a:t>One base forecast: 856k cases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26517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</a:rPr>
              <a:t>Promotion scenario assumptions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68680" y="3246120"/>
            <a:ext cx="26517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</a:rPr>
              <a:t>Decision deadline for any update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868680" y="3794760"/>
            <a:ext cx="26517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</a:rPr>
              <a:t>Service-risk acceptance if supply is tight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4407408" y="1298448"/>
            <a:ext cx="3383280" cy="4434840"/>
          </a:xfrm>
          <a:prstGeom prst="roundRect">
            <a:avLst>
              <a:gd name="adj" fmla="val 1351"/>
            </a:avLst>
          </a:prstGeom>
          <a:solidFill>
            <a:srgbClr val="FBF7EF"/>
          </a:solidFill>
          <a:ln w="8890">
            <a:solidFill>
              <a:srgbClr val="E6D6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16093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B58"/>
                </a:solidFill>
              </a:rPr>
              <a:t>Expected Sales response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81728" y="2139696"/>
            <a:ext cx="2697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573019"/>
                </a:solidFill>
              </a:rPr>
              <a:t>Sales will likely push for the higher scenario in the official forecast.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81728" y="2907792"/>
            <a:ext cx="26974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11827"/>
                </a:solidFill>
              </a:rPr>
              <a:t>Response: keep the scenario visible, but require evidence and commitment before factory conversion.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4681728" y="4160520"/>
            <a:ext cx="26974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B64A3D"/>
                </a:solidFill>
              </a:rPr>
              <a:t>Do not turn commercial ambition into a production signal without capacity confirmation.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0" y="1298448"/>
            <a:ext cx="3383280" cy="443484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8890">
            <a:solidFill>
              <a:srgbClr val="D8DC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16093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B58"/>
                </a:solidFill>
              </a:rPr>
              <a:t>Weekly tracking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3920" y="214884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Orders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765792" y="21488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7727E"/>
                </a:solidFill>
              </a:rPr>
              <a:t>against signed forecast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8503920" y="267919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Shipments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765792" y="26791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7727E"/>
                </a:solidFill>
              </a:rPr>
              <a:t>against factory plan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8503920" y="32095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Casefill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765792" y="320954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7727E"/>
                </a:solidFill>
              </a:rPr>
              <a:t>to separate demand from supply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8503920" y="373989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Stock-outs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765792" y="37398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7727E"/>
                </a:solidFill>
              </a:rPr>
              <a:t>customer service risk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8503920" y="427024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Variance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765792" y="42702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7727E"/>
                </a:solidFill>
              </a:rPr>
              <a:t>update only if material and confirmed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868680" y="598932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3B58"/>
                </a:solidFill>
              </a:rPr>
              <a:t>Final recommendation: sign 856k now; only upgrade when the promo scenario is operationally and commercially committed.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6327648"/>
            <a:ext cx="8138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dirty="0">
                <a:solidFill>
                  <a:srgbClr val="8A8F98"/>
                </a:solidFill>
              </a:rPr>
              <a:t>Source: Business Case – Forecast Analyst requirement and completed forecast workbook.</a:t>
            </a:r>
            <a:endParaRPr lang="en-US" sz="620" dirty="0"/>
          </a:p>
        </p:txBody>
      </p:sp>
      <p:sp>
        <p:nvSpPr>
          <p:cNvPr id="30" name="Text 28"/>
          <p:cNvSpPr/>
          <p:nvPr/>
        </p:nvSpPr>
        <p:spPr>
          <a:xfrm>
            <a:off x="502920" y="6601968"/>
            <a:ext cx="6400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8F98"/>
                </a:solidFill>
              </a:rPr>
              <a:t>Mars Real Deal • January forecast discussion • Dec 2021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11384280" y="6583680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67727E"/>
                </a:solidFill>
              </a:rPr>
              <a:t>07</a:t>
            </a:r>
            <a:endParaRPr lang="en-US" sz="700" dirty="0"/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C20A2A0D-2DD1-1835-78BF-4DE5B95F63D9}"/>
              </a:ext>
            </a:extLst>
          </p:cNvPr>
          <p:cNvSpPr/>
          <p:nvPr/>
        </p:nvSpPr>
        <p:spPr>
          <a:xfrm>
            <a:off x="530352" y="768096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050" dirty="0">
                <a:solidFill>
                  <a:srgbClr val="67727E"/>
                </a:solidFill>
              </a:rPr>
              <a:t>What assumptions do you make?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4B45B2E-D881-4BA8-BF22-89794BBC36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2"/>
          </a:solidFill>
          <a:ln w="0">
            <a:noFill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39403F3-5D2F-4345-838F-9F6B760EA2E2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71450" cy="171450"/>
          </a:xfrm>
          <a:prstGeom prst="roundRect">
            <a:avLst>
              <a:gd name="adj" fmla="val 11111"/>
            </a:avLst>
          </a:prstGeom>
          <a:solidFill>
            <a:srgbClr val="9E1B32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BDF91F-A192-4ABE-B68E-5DAC1869DAEF}"/>
              </a:ext>
            </a:extLst>
          </p:cNvPr>
          <p:cNvSpPr>
            <a:spLocks noGrp="1"/>
          </p:cNvSpPr>
          <p:nvPr/>
        </p:nvSpPr>
        <p:spPr>
          <a:xfrm>
            <a:off x="819150" y="333375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defRPr sz="1050" b="1">
                <a:solidFill>
                  <a:srgbClr val="9E1B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1B32"/>
                </a:solidFill>
                <a:latin typeface="Aptos"/>
                <a:ea typeface="Aptos"/>
                <a:cs typeface="Aptos"/>
              </a:rPr>
              <a:t>SERVICE CONTEXT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8CB599-9C8D-430C-8685-19319C343C02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/>
          <a:lstStyle/>
          <a:p>
            <a:pPr algn="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CA421C-76C9-4F04-BF2A-E95B979A1775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8572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26323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63238"/>
                </a:solidFill>
                <a:latin typeface="Aptos Display"/>
                <a:ea typeface="Aptos Display"/>
                <a:cs typeface="Aptos Display"/>
              </a:rPr>
              <a:t>Delivered actuals need casefill context before they become demand.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809750"/>
            <a:ext cx="7524750" cy="3429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51D0DB0-E686-4D97-A8D5-2A50A3E5B4C4}"/>
              </a:ext>
            </a:extLst>
          </p:cNvPr>
          <p:cNvSpPr>
            <a:spLocks noGrp="1"/>
          </p:cNvSpPr>
          <p:nvPr/>
        </p:nvSpPr>
        <p:spPr>
          <a:xfrm>
            <a:off x="8591550" y="1847850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/>
          <a:lstStyle/>
          <a:p>
            <a:pPr algn="l">
              <a:defRPr sz="135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Implication for the discussion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17963B-001C-46D6-B9FF-48C76F71F8CD}"/>
              </a:ext>
            </a:extLst>
          </p:cNvPr>
          <p:cNvSpPr>
            <a:spLocks noGrp="1"/>
          </p:cNvSpPr>
          <p:nvPr/>
        </p:nvSpPr>
        <p:spPr>
          <a:xfrm>
            <a:off x="8591550" y="2305050"/>
            <a:ext cx="26670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</p:spPr>
        <p:txBody>
          <a:bodyPr wrap="square" lIns="95250" tIns="47625" rIns="95250" bIns="47625" anchor="ctr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Casefill below 95% in 5 weeks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6A7FF1-B5A6-466F-A9F4-2B2EDD82594B}"/>
              </a:ext>
            </a:extLst>
          </p:cNvPr>
          <p:cNvSpPr>
            <a:spLocks noGrp="1"/>
          </p:cNvSpPr>
          <p:nvPr/>
        </p:nvSpPr>
        <p:spPr>
          <a:xfrm>
            <a:off x="8591550" y="2762250"/>
            <a:ext cx="26670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</p:spPr>
        <p:txBody>
          <a:bodyPr wrap="square" lIns="95250" tIns="47625" rIns="95250" bIns="47625" anchor="ctr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Estimated lost / delayed demand: 235k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D55C87-D6D9-4363-BF7E-8400B6FDF40E}"/>
              </a:ext>
            </a:extLst>
          </p:cNvPr>
          <p:cNvSpPr>
            <a:spLocks noGrp="1"/>
          </p:cNvSpPr>
          <p:nvPr/>
        </p:nvSpPr>
        <p:spPr>
          <a:xfrm>
            <a:off x="8591550" y="3219450"/>
            <a:ext cx="26670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</p:spPr>
        <p:txBody>
          <a:bodyPr wrap="square" lIns="95250" tIns="47625" rIns="95250" bIns="47625" anchor="ctr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P12 actuals alone are not a clean baseline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505A6F-D084-4BBC-A5D8-C70EEE60B166}"/>
              </a:ext>
            </a:extLst>
          </p:cNvPr>
          <p:cNvSpPr>
            <a:spLocks noGrp="1"/>
          </p:cNvSpPr>
          <p:nvPr/>
        </p:nvSpPr>
        <p:spPr>
          <a:xfrm>
            <a:off x="8591550" y="3905250"/>
            <a:ext cx="28003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</p:spPr>
        <p:txBody>
          <a:bodyPr wrap="square" lIns="133350" tIns="133350" rIns="133350" bIns="133350" anchor="t"/>
          <a:lstStyle/>
          <a:p>
            <a:pPr algn="l">
              <a:defRPr sz="1200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Supply Chain should challenge any January uplift that is justified only by recent delivered actuals. The clean forecast discussion is ordered demand, not shipments in a constrained week.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16DEC0-FE53-4A90-8EC7-7F936215EB1C}"/>
              </a:ext>
            </a:extLst>
          </p:cNvPr>
          <p:cNvSpPr>
            <a:spLocks noGrp="1"/>
          </p:cNvSpPr>
          <p:nvPr/>
        </p:nvSpPr>
        <p:spPr>
          <a:xfrm>
            <a:off x="552450" y="624840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/>
          <a:lstStyle/>
          <a:p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Business Case - Forecast Analyst.xlsx; cases in '000.</a:t>
            </a:r>
          </a:p>
        </p:txBody>
      </p:sp>
    </p:spTree>
    <p:extLst>
      <p:ext uri="{BB962C8B-B14F-4D97-AF65-F5344CB8AC3E}">
        <p14:creationId xmlns:p14="http://schemas.microsoft.com/office/powerpoint/2010/main" val="1722481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E81D972-C90B-4124-BD3A-56589635AE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2"/>
          </a:solidFill>
          <a:ln w="0">
            <a:noFill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C551A97-7B62-41C1-A842-25E871490046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71450" cy="171450"/>
          </a:xfrm>
          <a:prstGeom prst="roundRect">
            <a:avLst>
              <a:gd name="adj" fmla="val 11111"/>
            </a:avLst>
          </a:prstGeom>
          <a:solidFill>
            <a:srgbClr val="9E1B32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F91F80-B10F-4DA7-A8A4-89895B79858D}"/>
              </a:ext>
            </a:extLst>
          </p:cNvPr>
          <p:cNvSpPr>
            <a:spLocks noGrp="1"/>
          </p:cNvSpPr>
          <p:nvPr/>
        </p:nvSpPr>
        <p:spPr>
          <a:xfrm>
            <a:off x="819150" y="333375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defRPr sz="1050" b="1">
                <a:solidFill>
                  <a:srgbClr val="9E1B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1B32"/>
                </a:solidFill>
                <a:latin typeface="Aptos"/>
                <a:ea typeface="Aptos"/>
                <a:cs typeface="Aptos"/>
              </a:rPr>
              <a:t>PROMOTION EVIDENCE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0D9E5F-92DC-4989-88BC-CED50A780A22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/>
          <a:lstStyle/>
          <a:p>
            <a:pPr algn="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A8BAD4-042E-4206-A49E-FBE855E7D969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8572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26323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63238"/>
                </a:solidFill>
                <a:latin typeface="Aptos Display"/>
                <a:ea typeface="Aptos Display"/>
                <a:cs typeface="Aptos Display"/>
              </a:rPr>
              <a:t>Promotions support upside, but customer variability is the risk.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400" y="1790700"/>
            <a:ext cx="7048500" cy="3619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3626FAD-C740-407C-A624-8EB98A10D130}"/>
              </a:ext>
            </a:extLst>
          </p:cNvPr>
          <p:cNvSpPr>
            <a:spLocks noGrp="1"/>
          </p:cNvSpPr>
          <p:nvPr/>
        </p:nvSpPr>
        <p:spPr>
          <a:xfrm>
            <a:off x="8191500" y="180975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/>
          <a:lstStyle/>
          <a:p>
            <a:pPr algn="l">
              <a:defRPr sz="135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How I would position 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EB516E-73C8-4720-8013-1A40852431BF}"/>
              </a:ext>
            </a:extLst>
          </p:cNvPr>
          <p:cNvSpPr>
            <a:spLocks noGrp="1"/>
          </p:cNvSpPr>
          <p:nvPr/>
        </p:nvSpPr>
        <p:spPr>
          <a:xfrm>
            <a:off x="8191500" y="2286000"/>
            <a:ext cx="28575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</p:spPr>
        <p:txBody>
          <a:bodyPr wrap="square" lIns="95250" tIns="47625" rIns="95250" bIns="47625" anchor="ctr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Customer 1 median promo week: 378k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00809F-22CB-4635-98AD-C0EBF0A9528C}"/>
              </a:ext>
            </a:extLst>
          </p:cNvPr>
          <p:cNvSpPr>
            <a:spLocks noGrp="1"/>
          </p:cNvSpPr>
          <p:nvPr/>
        </p:nvSpPr>
        <p:spPr>
          <a:xfrm>
            <a:off x="8191500" y="2743200"/>
            <a:ext cx="28575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</p:spPr>
        <p:txBody>
          <a:bodyPr wrap="square" lIns="95250" tIns="47625" rIns="95250" bIns="47625" anchor="ctr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Customer 2 median promo week: 277k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BA3A61-5811-4298-904F-A92C91F3AFCD}"/>
              </a:ext>
            </a:extLst>
          </p:cNvPr>
          <p:cNvSpPr>
            <a:spLocks noGrp="1"/>
          </p:cNvSpPr>
          <p:nvPr/>
        </p:nvSpPr>
        <p:spPr>
          <a:xfrm>
            <a:off x="8191500" y="3200400"/>
            <a:ext cx="28575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</p:spPr>
        <p:txBody>
          <a:bodyPr wrap="square" lIns="95250" tIns="47625" rIns="95250" bIns="47625" anchor="ctr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Customer 2 range includes extreme spikes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18B74D-9304-44DB-A5C1-16F27F3297AE}"/>
              </a:ext>
            </a:extLst>
          </p:cNvPr>
          <p:cNvSpPr>
            <a:spLocks noGrp="1"/>
          </p:cNvSpPr>
          <p:nvPr/>
        </p:nvSpPr>
        <p:spPr>
          <a:xfrm>
            <a:off x="8191500" y="3905250"/>
            <a:ext cx="29337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</p:spPr>
        <p:txBody>
          <a:bodyPr wrap="square" lIns="133350" tIns="133350" rIns="133350" bIns="133350" anchor="t"/>
          <a:lstStyle/>
          <a:p>
            <a:pPr algn="l">
              <a:defRPr sz="1200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A promotion is not one universal uplift. I would ask Sales which customer, which mechanic, and which support plan they are asking the factory to believe.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A3C1CC-52EE-4A76-ACFD-68EA2DF3CA1C}"/>
              </a:ext>
            </a:extLst>
          </p:cNvPr>
          <p:cNvSpPr>
            <a:spLocks noGrp="1"/>
          </p:cNvSpPr>
          <p:nvPr/>
        </p:nvSpPr>
        <p:spPr>
          <a:xfrm>
            <a:off x="552450" y="624840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/>
          <a:lstStyle/>
          <a:p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Business Case - Forecast Analyst.xlsx; cases in '000.</a:t>
            </a:r>
          </a:p>
        </p:txBody>
      </p:sp>
    </p:spTree>
    <p:extLst>
      <p:ext uri="{BB962C8B-B14F-4D97-AF65-F5344CB8AC3E}">
        <p14:creationId xmlns:p14="http://schemas.microsoft.com/office/powerpoint/2010/main" val="304214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4AF577E6-1116-40E4-8A02-D811676CB4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2"/>
          </a:solidFill>
          <a:ln w="0">
            <a:noFill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6B52590-61CA-4E12-95BC-F08CA2885728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71450" cy="171450"/>
          </a:xfrm>
          <a:prstGeom prst="roundRect">
            <a:avLst>
              <a:gd name="adj" fmla="val 11111"/>
            </a:avLst>
          </a:prstGeom>
          <a:solidFill>
            <a:srgbClr val="9E1B32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DC7A67-21D0-4875-95B3-6A54609EB0E3}"/>
              </a:ext>
            </a:extLst>
          </p:cNvPr>
          <p:cNvSpPr>
            <a:spLocks noGrp="1"/>
          </p:cNvSpPr>
          <p:nvPr/>
        </p:nvSpPr>
        <p:spPr>
          <a:xfrm>
            <a:off x="819150" y="333375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defRPr sz="1050" b="1">
                <a:solidFill>
                  <a:srgbClr val="9E1B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1B32"/>
                </a:solidFill>
                <a:latin typeface="Aptos"/>
                <a:ea typeface="Aptos"/>
                <a:cs typeface="Aptos"/>
              </a:rPr>
              <a:t>BASE FORECAST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EF8EAA-F0A3-4221-99BA-D73287DD55D8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/>
          <a:lstStyle/>
          <a:p>
            <a:pPr algn="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A9F0F4-2AD6-480A-8C7F-5B06AE1A1AE6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8572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26323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63238"/>
                </a:solidFill>
                <a:latin typeface="Aptos Display"/>
                <a:ea typeface="Aptos Display"/>
                <a:cs typeface="Aptos Display"/>
              </a:rPr>
              <a:t>The clean base is the latest normal run-rate, not the constrained dip.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EDF064-39F8-46DA-84F4-19464C76321C}"/>
              </a:ext>
            </a:extLst>
          </p:cNvPr>
          <p:cNvSpPr>
            <a:spLocks noGrp="1"/>
          </p:cNvSpPr>
          <p:nvPr/>
        </p:nvSpPr>
        <p:spPr>
          <a:xfrm>
            <a:off x="552450" y="1828800"/>
            <a:ext cx="3143250" cy="457200"/>
          </a:xfrm>
          <a:prstGeom prst="rect">
            <a:avLst/>
          </a:prstGeom>
          <a:solidFill>
            <a:srgbClr val="263238"/>
          </a:solidFill>
          <a:ln w="9525">
            <a:solidFill>
              <a:srgbClr val="D8DDE3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71ADBE-A529-4036-ABA4-D3D6C85BCEA4}"/>
              </a:ext>
            </a:extLst>
          </p:cNvPr>
          <p:cNvSpPr>
            <a:spLocks noGrp="1"/>
          </p:cNvSpPr>
          <p:nvPr/>
        </p:nvSpPr>
        <p:spPr>
          <a:xfrm>
            <a:off x="628650" y="1905000"/>
            <a:ext cx="2990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 read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8C432A-9030-4E27-8A1A-88ADE2089C1B}"/>
              </a:ext>
            </a:extLst>
          </p:cNvPr>
          <p:cNvSpPr>
            <a:spLocks noGrp="1"/>
          </p:cNvSpPr>
          <p:nvPr/>
        </p:nvSpPr>
        <p:spPr>
          <a:xfrm>
            <a:off x="3695700" y="1828800"/>
            <a:ext cx="1143000" cy="457200"/>
          </a:xfrm>
          <a:prstGeom prst="rect">
            <a:avLst/>
          </a:prstGeom>
          <a:solidFill>
            <a:srgbClr val="263238"/>
          </a:solidFill>
          <a:ln w="9525">
            <a:solidFill>
              <a:srgbClr val="D8DDE3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A5F2B1-96AD-4BDD-AD17-13C8CE0AA2F4}"/>
              </a:ext>
            </a:extLst>
          </p:cNvPr>
          <p:cNvSpPr>
            <a:spLocks noGrp="1"/>
          </p:cNvSpPr>
          <p:nvPr/>
        </p:nvSpPr>
        <p:spPr>
          <a:xfrm>
            <a:off x="3771900" y="1905000"/>
            <a:ext cx="990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Volume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920411-7AF5-4798-8AE6-2C8A1439E0E2}"/>
              </a:ext>
            </a:extLst>
          </p:cNvPr>
          <p:cNvSpPr>
            <a:spLocks noGrp="1"/>
          </p:cNvSpPr>
          <p:nvPr/>
        </p:nvSpPr>
        <p:spPr>
          <a:xfrm>
            <a:off x="4838700" y="1828800"/>
            <a:ext cx="4762500" cy="457200"/>
          </a:xfrm>
          <a:prstGeom prst="rect">
            <a:avLst/>
          </a:prstGeom>
          <a:solidFill>
            <a:srgbClr val="263238"/>
          </a:solidFill>
          <a:ln w="9525">
            <a:solidFill>
              <a:srgbClr val="D8DDE3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FC3D88-7BBE-4CDA-99A9-B2CE124DE716}"/>
              </a:ext>
            </a:extLst>
          </p:cNvPr>
          <p:cNvSpPr>
            <a:spLocks noGrp="1"/>
          </p:cNvSpPr>
          <p:nvPr/>
        </p:nvSpPr>
        <p:spPr>
          <a:xfrm>
            <a:off x="4914900" y="1905000"/>
            <a:ext cx="4610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DF0FD9-EAA3-4D69-AB80-F685C9DF0738}"/>
              </a:ext>
            </a:extLst>
          </p:cNvPr>
          <p:cNvSpPr>
            <a:spLocks noGrp="1"/>
          </p:cNvSpPr>
          <p:nvPr/>
        </p:nvSpPr>
        <p:spPr>
          <a:xfrm>
            <a:off x="552450" y="2286000"/>
            <a:ext cx="3143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504EC1-5214-43CA-950E-4E224E3890C8}"/>
              </a:ext>
            </a:extLst>
          </p:cNvPr>
          <p:cNvSpPr>
            <a:spLocks noGrp="1"/>
          </p:cNvSpPr>
          <p:nvPr/>
        </p:nvSpPr>
        <p:spPr>
          <a:xfrm>
            <a:off x="628650" y="2362200"/>
            <a:ext cx="2990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P01 2021 ordered demand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50E878-6163-4A69-87A1-E7707E40F35D}"/>
              </a:ext>
            </a:extLst>
          </p:cNvPr>
          <p:cNvSpPr>
            <a:spLocks noGrp="1"/>
          </p:cNvSpPr>
          <p:nvPr/>
        </p:nvSpPr>
        <p:spPr>
          <a:xfrm>
            <a:off x="3695700" y="2286000"/>
            <a:ext cx="1143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7D8725-7DE4-4D19-9853-ADA69EDAF37A}"/>
              </a:ext>
            </a:extLst>
          </p:cNvPr>
          <p:cNvSpPr>
            <a:spLocks noGrp="1"/>
          </p:cNvSpPr>
          <p:nvPr/>
        </p:nvSpPr>
        <p:spPr>
          <a:xfrm>
            <a:off x="3771900" y="2362200"/>
            <a:ext cx="990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710k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C32E8D-1491-4A11-86F6-80C496AF22F0}"/>
              </a:ext>
            </a:extLst>
          </p:cNvPr>
          <p:cNvSpPr>
            <a:spLocks noGrp="1"/>
          </p:cNvSpPr>
          <p:nvPr/>
        </p:nvSpPr>
        <p:spPr>
          <a:xfrm>
            <a:off x="4838700" y="2286000"/>
            <a:ext cx="4762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C4883F-7570-430F-A8CE-742F305C9696}"/>
              </a:ext>
            </a:extLst>
          </p:cNvPr>
          <p:cNvSpPr>
            <a:spLocks noGrp="1"/>
          </p:cNvSpPr>
          <p:nvPr/>
        </p:nvSpPr>
        <p:spPr>
          <a:xfrm>
            <a:off x="4914900" y="2362200"/>
            <a:ext cx="4610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Direct January analogy, but a year old.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0A8722-FFFD-4B1B-AF63-92A141561B10}"/>
              </a:ext>
            </a:extLst>
          </p:cNvPr>
          <p:cNvSpPr>
            <a:spLocks noGrp="1"/>
          </p:cNvSpPr>
          <p:nvPr/>
        </p:nvSpPr>
        <p:spPr>
          <a:xfrm>
            <a:off x="552450" y="2743200"/>
            <a:ext cx="3143250" cy="457200"/>
          </a:xfrm>
          <a:prstGeom prst="rect">
            <a:avLst/>
          </a:prstGeom>
          <a:solidFill>
            <a:srgbClr val="FAFAF8"/>
          </a:solidFill>
          <a:ln w="9525">
            <a:solidFill>
              <a:srgbClr val="D8DDE3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B933B4-747E-4F50-A599-421AA654DF7D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2990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P13 2021 ordered demand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D378E8-F60B-4C1D-BE77-1D8A2BAAE757}"/>
              </a:ext>
            </a:extLst>
          </p:cNvPr>
          <p:cNvSpPr>
            <a:spLocks noGrp="1"/>
          </p:cNvSpPr>
          <p:nvPr/>
        </p:nvSpPr>
        <p:spPr>
          <a:xfrm>
            <a:off x="3695700" y="2743200"/>
            <a:ext cx="1143000" cy="457200"/>
          </a:xfrm>
          <a:prstGeom prst="rect">
            <a:avLst/>
          </a:prstGeom>
          <a:solidFill>
            <a:srgbClr val="FAFAF8"/>
          </a:solidFill>
          <a:ln w="9525">
            <a:solidFill>
              <a:srgbClr val="D8DDE3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677457-409C-4821-BFAA-91411B0C68C0}"/>
              </a:ext>
            </a:extLst>
          </p:cNvPr>
          <p:cNvSpPr>
            <a:spLocks noGrp="1"/>
          </p:cNvSpPr>
          <p:nvPr/>
        </p:nvSpPr>
        <p:spPr>
          <a:xfrm>
            <a:off x="3771900" y="2819400"/>
            <a:ext cx="990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856k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705306-1A56-4903-B9A2-F8E020606831}"/>
              </a:ext>
            </a:extLst>
          </p:cNvPr>
          <p:cNvSpPr>
            <a:spLocks noGrp="1"/>
          </p:cNvSpPr>
          <p:nvPr/>
        </p:nvSpPr>
        <p:spPr>
          <a:xfrm>
            <a:off x="4838700" y="2743200"/>
            <a:ext cx="4762500" cy="457200"/>
          </a:xfrm>
          <a:prstGeom prst="rect">
            <a:avLst/>
          </a:prstGeom>
          <a:solidFill>
            <a:srgbClr val="FAFAF8"/>
          </a:solidFill>
          <a:ln w="9525">
            <a:solidFill>
              <a:srgbClr val="D8DDE3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3494A8-015D-4B14-8E30-858E3846066F}"/>
              </a:ext>
            </a:extLst>
          </p:cNvPr>
          <p:cNvSpPr>
            <a:spLocks noGrp="1"/>
          </p:cNvSpPr>
          <p:nvPr/>
        </p:nvSpPr>
        <p:spPr>
          <a:xfrm>
            <a:off x="4914900" y="2819400"/>
            <a:ext cx="4610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Latest clean 4-week period; normal service and no promotion.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DA1065-1355-45AB-888B-BE082C22F555}"/>
              </a:ext>
            </a:extLst>
          </p:cNvPr>
          <p:cNvSpPr>
            <a:spLocks noGrp="1"/>
          </p:cNvSpPr>
          <p:nvPr/>
        </p:nvSpPr>
        <p:spPr>
          <a:xfrm>
            <a:off x="552450" y="3200400"/>
            <a:ext cx="3143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E4279E-B298-4619-B919-E9C6AF3A87E2}"/>
              </a:ext>
            </a:extLst>
          </p:cNvPr>
          <p:cNvSpPr>
            <a:spLocks noGrp="1"/>
          </p:cNvSpPr>
          <p:nvPr/>
        </p:nvSpPr>
        <p:spPr>
          <a:xfrm>
            <a:off x="628650" y="3276600"/>
            <a:ext cx="2990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Recent clean median x 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45C8F0-B5F4-4A4B-8E0D-E0C259DE65CC}"/>
              </a:ext>
            </a:extLst>
          </p:cNvPr>
          <p:cNvSpPr>
            <a:spLocks noGrp="1"/>
          </p:cNvSpPr>
          <p:nvPr/>
        </p:nvSpPr>
        <p:spPr>
          <a:xfrm>
            <a:off x="3695700" y="3200400"/>
            <a:ext cx="1143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442821-66CF-4D04-99D8-71CF91EB96A3}"/>
              </a:ext>
            </a:extLst>
          </p:cNvPr>
          <p:cNvSpPr>
            <a:spLocks noGrp="1"/>
          </p:cNvSpPr>
          <p:nvPr/>
        </p:nvSpPr>
        <p:spPr>
          <a:xfrm>
            <a:off x="3771900" y="3276600"/>
            <a:ext cx="990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847k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06B5D54-37DE-4F8F-82DE-358CAC4F7B36}"/>
              </a:ext>
            </a:extLst>
          </p:cNvPr>
          <p:cNvSpPr>
            <a:spLocks noGrp="1"/>
          </p:cNvSpPr>
          <p:nvPr/>
        </p:nvSpPr>
        <p:spPr>
          <a:xfrm>
            <a:off x="4838700" y="3200400"/>
            <a:ext cx="4762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A5D3CED-2A2F-43A2-B84C-6FE873E49ADD}"/>
              </a:ext>
            </a:extLst>
          </p:cNvPr>
          <p:cNvSpPr>
            <a:spLocks noGrp="1"/>
          </p:cNvSpPr>
          <p:nvPr/>
        </p:nvSpPr>
        <p:spPr>
          <a:xfrm>
            <a:off x="4914900" y="3276600"/>
            <a:ext cx="4610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Robust cross-check against P13.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E74F44A-1F21-4DEC-B498-E7C10266C85C}"/>
              </a:ext>
            </a:extLst>
          </p:cNvPr>
          <p:cNvSpPr>
            <a:spLocks noGrp="1"/>
          </p:cNvSpPr>
          <p:nvPr/>
        </p:nvSpPr>
        <p:spPr>
          <a:xfrm>
            <a:off x="552450" y="3657600"/>
            <a:ext cx="3143250" cy="457200"/>
          </a:xfrm>
          <a:prstGeom prst="rect">
            <a:avLst/>
          </a:prstGeom>
          <a:solidFill>
            <a:srgbClr val="FAFAF8"/>
          </a:solidFill>
          <a:ln w="9525">
            <a:solidFill>
              <a:srgbClr val="D8DDE3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24A43A9-C8AA-4F78-8E6B-93E4295D006D}"/>
              </a:ext>
            </a:extLst>
          </p:cNvPr>
          <p:cNvSpPr>
            <a:spLocks noGrp="1"/>
          </p:cNvSpPr>
          <p:nvPr/>
        </p:nvSpPr>
        <p:spPr>
          <a:xfrm>
            <a:off x="628650" y="3733800"/>
            <a:ext cx="2990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Recent clean mean x 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AABE66-3A6C-4CA9-A929-146EDC26B3A5}"/>
              </a:ext>
            </a:extLst>
          </p:cNvPr>
          <p:cNvSpPr>
            <a:spLocks noGrp="1"/>
          </p:cNvSpPr>
          <p:nvPr/>
        </p:nvSpPr>
        <p:spPr>
          <a:xfrm>
            <a:off x="3695700" y="3657600"/>
            <a:ext cx="1143000" cy="457200"/>
          </a:xfrm>
          <a:prstGeom prst="rect">
            <a:avLst/>
          </a:prstGeom>
          <a:solidFill>
            <a:srgbClr val="FAFAF8"/>
          </a:solidFill>
          <a:ln w="9525">
            <a:solidFill>
              <a:srgbClr val="D8DDE3"/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07AEAD8-518B-42DE-9C89-04A2CA14428D}"/>
              </a:ext>
            </a:extLst>
          </p:cNvPr>
          <p:cNvSpPr>
            <a:spLocks noGrp="1"/>
          </p:cNvSpPr>
          <p:nvPr/>
        </p:nvSpPr>
        <p:spPr>
          <a:xfrm>
            <a:off x="3771900" y="3733800"/>
            <a:ext cx="990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870k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13F735-98FA-4411-8600-8554AD2FEABE}"/>
              </a:ext>
            </a:extLst>
          </p:cNvPr>
          <p:cNvSpPr>
            <a:spLocks noGrp="1"/>
          </p:cNvSpPr>
          <p:nvPr/>
        </p:nvSpPr>
        <p:spPr>
          <a:xfrm>
            <a:off x="4838700" y="3657600"/>
            <a:ext cx="4762500" cy="457200"/>
          </a:xfrm>
          <a:prstGeom prst="rect">
            <a:avLst/>
          </a:prstGeom>
          <a:solidFill>
            <a:srgbClr val="FAFAF8"/>
          </a:solidFill>
          <a:ln w="9525">
            <a:solidFill>
              <a:srgbClr val="D8DDE3"/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7761EEB-8C7E-4276-9373-3C037E297450}"/>
              </a:ext>
            </a:extLst>
          </p:cNvPr>
          <p:cNvSpPr>
            <a:spLocks noGrp="1"/>
          </p:cNvSpPr>
          <p:nvPr/>
        </p:nvSpPr>
        <p:spPr>
          <a:xfrm>
            <a:off x="4914900" y="3733800"/>
            <a:ext cx="4610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Shows P13 is not an aggressive outlier.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200710B-3958-42F8-9542-E2F22B31777C}"/>
              </a:ext>
            </a:extLst>
          </p:cNvPr>
          <p:cNvSpPr>
            <a:spLocks noGrp="1"/>
          </p:cNvSpPr>
          <p:nvPr/>
        </p:nvSpPr>
        <p:spPr>
          <a:xfrm>
            <a:off x="552450" y="447675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/>
          <a:lstStyle/>
          <a:p>
            <a:pPr algn="l">
              <a:defRPr sz="135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Recommended no-promo phasing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1A60F85-240A-446D-9882-CF9862ABC6B4}"/>
              </a:ext>
            </a:extLst>
          </p:cNvPr>
          <p:cNvSpPr>
            <a:spLocks noGrp="1"/>
          </p:cNvSpPr>
          <p:nvPr/>
        </p:nvSpPr>
        <p:spPr>
          <a:xfrm>
            <a:off x="552450" y="4933950"/>
            <a:ext cx="819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/>
          <a:lstStyle/>
          <a:p>
            <a:pPr algn="ctr">
              <a:defRPr sz="9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W1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C5574E8-2DF9-47A3-879B-C45E8FF04D8B}"/>
              </a:ext>
            </a:extLst>
          </p:cNvPr>
          <p:cNvSpPr>
            <a:spLocks noGrp="1"/>
          </p:cNvSpPr>
          <p:nvPr/>
        </p:nvSpPr>
        <p:spPr>
          <a:xfrm>
            <a:off x="552450" y="5219700"/>
            <a:ext cx="12001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/>
          <a:lstStyle/>
          <a:p>
            <a:pPr algn="ctr">
              <a:defRPr sz="2100" b="1">
                <a:solidFill>
                  <a:srgbClr val="9E1B3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9E1B32"/>
                </a:solidFill>
                <a:latin typeface="Aptos"/>
                <a:ea typeface="Aptos"/>
                <a:cs typeface="Aptos"/>
              </a:rPr>
              <a:t>212k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2C9B190-9CC5-438C-BF69-4A45F5B7697D}"/>
              </a:ext>
            </a:extLst>
          </p:cNvPr>
          <p:cNvSpPr>
            <a:spLocks noGrp="1"/>
          </p:cNvSpPr>
          <p:nvPr/>
        </p:nvSpPr>
        <p:spPr>
          <a:xfrm>
            <a:off x="2190750" y="4933950"/>
            <a:ext cx="819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/>
          <a:lstStyle/>
          <a:p>
            <a:pPr algn="ctr">
              <a:defRPr sz="9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W2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1F7323F-F98A-43EF-BC63-4092127DDB21}"/>
              </a:ext>
            </a:extLst>
          </p:cNvPr>
          <p:cNvSpPr>
            <a:spLocks noGrp="1"/>
          </p:cNvSpPr>
          <p:nvPr/>
        </p:nvSpPr>
        <p:spPr>
          <a:xfrm>
            <a:off x="2190750" y="5219700"/>
            <a:ext cx="12001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/>
          <a:lstStyle/>
          <a:p>
            <a:pPr algn="ctr">
              <a:defRPr sz="2100" b="1">
                <a:solidFill>
                  <a:srgbClr val="9E1B3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9E1B32"/>
                </a:solidFill>
                <a:latin typeface="Aptos"/>
                <a:ea typeface="Aptos"/>
                <a:cs typeface="Aptos"/>
              </a:rPr>
              <a:t>254k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D28969D-1128-47E7-B8BA-4F4699EBF69E}"/>
              </a:ext>
            </a:extLst>
          </p:cNvPr>
          <p:cNvSpPr>
            <a:spLocks noGrp="1"/>
          </p:cNvSpPr>
          <p:nvPr/>
        </p:nvSpPr>
        <p:spPr>
          <a:xfrm>
            <a:off x="3829050" y="4933950"/>
            <a:ext cx="819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/>
          <a:lstStyle/>
          <a:p>
            <a:pPr algn="ctr">
              <a:defRPr sz="9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W3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FD73BBA-D6F4-4ECB-AC2F-8E78F7E90041}"/>
              </a:ext>
            </a:extLst>
          </p:cNvPr>
          <p:cNvSpPr>
            <a:spLocks noGrp="1"/>
          </p:cNvSpPr>
          <p:nvPr/>
        </p:nvSpPr>
        <p:spPr>
          <a:xfrm>
            <a:off x="3829050" y="5219700"/>
            <a:ext cx="12001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/>
          <a:lstStyle/>
          <a:p>
            <a:pPr algn="ctr">
              <a:defRPr sz="2100" b="1">
                <a:solidFill>
                  <a:srgbClr val="9E1B3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9E1B32"/>
                </a:solidFill>
                <a:latin typeface="Aptos"/>
                <a:ea typeface="Aptos"/>
                <a:cs typeface="Aptos"/>
              </a:rPr>
              <a:t>214k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E6ABE47-0175-44BB-BEC0-1A55200DB686}"/>
              </a:ext>
            </a:extLst>
          </p:cNvPr>
          <p:cNvSpPr>
            <a:spLocks noGrp="1"/>
          </p:cNvSpPr>
          <p:nvPr/>
        </p:nvSpPr>
        <p:spPr>
          <a:xfrm>
            <a:off x="5467350" y="4933950"/>
            <a:ext cx="819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/>
          <a:lstStyle/>
          <a:p>
            <a:pPr algn="ctr">
              <a:defRPr sz="9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W4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7B13365-B3AF-4C76-8F78-03F548C70587}"/>
              </a:ext>
            </a:extLst>
          </p:cNvPr>
          <p:cNvSpPr>
            <a:spLocks noGrp="1"/>
          </p:cNvSpPr>
          <p:nvPr/>
        </p:nvSpPr>
        <p:spPr>
          <a:xfrm>
            <a:off x="5467350" y="5219700"/>
            <a:ext cx="12001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/>
          <a:lstStyle/>
          <a:p>
            <a:pPr algn="ctr">
              <a:defRPr sz="2100" b="1">
                <a:solidFill>
                  <a:srgbClr val="9E1B3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9E1B32"/>
                </a:solidFill>
                <a:latin typeface="Aptos"/>
                <a:ea typeface="Aptos"/>
                <a:cs typeface="Aptos"/>
              </a:rPr>
              <a:t>176k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D8EDC0E-37B0-494A-A21E-B7363B0DC42D}"/>
              </a:ext>
            </a:extLst>
          </p:cNvPr>
          <p:cNvSpPr>
            <a:spLocks noGrp="1"/>
          </p:cNvSpPr>
          <p:nvPr/>
        </p:nvSpPr>
        <p:spPr>
          <a:xfrm>
            <a:off x="7905750" y="4495800"/>
            <a:ext cx="31432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</p:spPr>
        <p:txBody>
          <a:bodyPr wrap="square" lIns="133350" tIns="133350" rIns="133350" bIns="133350" anchor="t"/>
          <a:lstStyle/>
          <a:p>
            <a:pPr algn="l">
              <a:defRPr sz="1200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Forecast position: 856k cases is defensible because it is close to multiple clean base reads and avoids loading an uncommitted promotion into the factory plan.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8A0644B-9F76-4EBE-812D-4B5A9E9048B7}"/>
              </a:ext>
            </a:extLst>
          </p:cNvPr>
          <p:cNvSpPr>
            <a:spLocks noGrp="1"/>
          </p:cNvSpPr>
          <p:nvPr/>
        </p:nvSpPr>
        <p:spPr>
          <a:xfrm>
            <a:off x="552450" y="624840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/>
          <a:lstStyle/>
          <a:p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Business Case - Forecast Analyst.xlsx; cases in '000.</a:t>
            </a:r>
          </a:p>
        </p:txBody>
      </p:sp>
    </p:spTree>
    <p:extLst>
      <p:ext uri="{BB962C8B-B14F-4D97-AF65-F5344CB8AC3E}">
        <p14:creationId xmlns:p14="http://schemas.microsoft.com/office/powerpoint/2010/main" val="2039568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FB80E012-5332-426C-ACD0-0E975B9630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2"/>
          </a:solidFill>
          <a:ln w="0">
            <a:noFill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B723F4B-5632-465E-A7B6-7530D00EC3A2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71450" cy="171450"/>
          </a:xfrm>
          <a:prstGeom prst="roundRect">
            <a:avLst>
              <a:gd name="adj" fmla="val 11111"/>
            </a:avLst>
          </a:prstGeom>
          <a:solidFill>
            <a:srgbClr val="9E1B32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15FF6D-D285-4107-A378-2D4F881AE4A1}"/>
              </a:ext>
            </a:extLst>
          </p:cNvPr>
          <p:cNvSpPr>
            <a:spLocks noGrp="1"/>
          </p:cNvSpPr>
          <p:nvPr/>
        </p:nvSpPr>
        <p:spPr>
          <a:xfrm>
            <a:off x="819150" y="333375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defRPr sz="1050" b="1">
                <a:solidFill>
                  <a:srgbClr val="9E1B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1B32"/>
                </a:solidFill>
                <a:latin typeface="Aptos"/>
                <a:ea typeface="Aptos"/>
                <a:cs typeface="Aptos"/>
              </a:rPr>
              <a:t>SIGNED PROMO GATE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D3AC21-B4A0-4F9F-AECE-CE679B3456D0}"/>
              </a:ext>
            </a:extLst>
          </p:cNvPr>
          <p:cNvSpPr>
            <a:spLocks noGrp="1"/>
          </p:cNvSpPr>
          <p:nvPr/>
        </p:nvSpPr>
        <p:spPr>
          <a:xfrm>
            <a:off x="11277600" y="62484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/>
          <a:lstStyle/>
          <a:p>
            <a:pPr algn="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ED80B0-3525-4923-A903-19293EBD099D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8572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26323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63238"/>
                </a:solidFill>
                <a:latin typeface="Aptos Display"/>
                <a:ea typeface="Aptos Display"/>
                <a:cs typeface="Aptos Display"/>
              </a:rPr>
              <a:t>If the event is signed, W2-W3 become the capacity constraint.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901E87-70CE-4356-A3CB-9050312E102C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2857500" cy="495300"/>
          </a:xfrm>
          <a:prstGeom prst="rect">
            <a:avLst/>
          </a:prstGeom>
          <a:solidFill>
            <a:srgbClr val="263238"/>
          </a:solidFill>
          <a:ln w="9525">
            <a:solidFill>
              <a:srgbClr val="D8DDE3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00DCE3-9F15-4EA5-82E1-D1B313F53612}"/>
              </a:ext>
            </a:extLst>
          </p:cNvPr>
          <p:cNvSpPr>
            <a:spLocks noGrp="1"/>
          </p:cNvSpPr>
          <p:nvPr/>
        </p:nvSpPr>
        <p:spPr>
          <a:xfrm>
            <a:off x="628650" y="1885950"/>
            <a:ext cx="27051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Scenario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97FCB9-93F9-4F95-8613-DAD2FEFD6776}"/>
              </a:ext>
            </a:extLst>
          </p:cNvPr>
          <p:cNvSpPr>
            <a:spLocks noGrp="1"/>
          </p:cNvSpPr>
          <p:nvPr/>
        </p:nvSpPr>
        <p:spPr>
          <a:xfrm>
            <a:off x="3409950" y="1809750"/>
            <a:ext cx="857250" cy="495300"/>
          </a:xfrm>
          <a:prstGeom prst="rect">
            <a:avLst/>
          </a:prstGeom>
          <a:solidFill>
            <a:srgbClr val="263238"/>
          </a:solidFill>
          <a:ln w="9525">
            <a:solidFill>
              <a:srgbClr val="D8DDE3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084D72-75E5-4ED8-8B28-C4E59E91C6B0}"/>
              </a:ext>
            </a:extLst>
          </p:cNvPr>
          <p:cNvSpPr>
            <a:spLocks noGrp="1"/>
          </p:cNvSpPr>
          <p:nvPr/>
        </p:nvSpPr>
        <p:spPr>
          <a:xfrm>
            <a:off x="3486150" y="1885950"/>
            <a:ext cx="704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B69F7-B12C-4C48-8EF2-4C844CF6755C}"/>
              </a:ext>
            </a:extLst>
          </p:cNvPr>
          <p:cNvSpPr>
            <a:spLocks noGrp="1"/>
          </p:cNvSpPr>
          <p:nvPr/>
        </p:nvSpPr>
        <p:spPr>
          <a:xfrm>
            <a:off x="4267200" y="1809750"/>
            <a:ext cx="857250" cy="495300"/>
          </a:xfrm>
          <a:prstGeom prst="rect">
            <a:avLst/>
          </a:prstGeom>
          <a:solidFill>
            <a:srgbClr val="263238"/>
          </a:solidFill>
          <a:ln w="9525">
            <a:solidFill>
              <a:srgbClr val="D8DDE3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6F8B0B-ACEA-45B8-A59F-91EA1B2C9ADE}"/>
              </a:ext>
            </a:extLst>
          </p:cNvPr>
          <p:cNvSpPr>
            <a:spLocks noGrp="1"/>
          </p:cNvSpPr>
          <p:nvPr/>
        </p:nvSpPr>
        <p:spPr>
          <a:xfrm>
            <a:off x="4343400" y="1885950"/>
            <a:ext cx="704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02A083-AA5D-4D02-BF17-B4FAF3E58E40}"/>
              </a:ext>
            </a:extLst>
          </p:cNvPr>
          <p:cNvSpPr>
            <a:spLocks noGrp="1"/>
          </p:cNvSpPr>
          <p:nvPr/>
        </p:nvSpPr>
        <p:spPr>
          <a:xfrm>
            <a:off x="5124450" y="1809750"/>
            <a:ext cx="857250" cy="495300"/>
          </a:xfrm>
          <a:prstGeom prst="rect">
            <a:avLst/>
          </a:prstGeom>
          <a:solidFill>
            <a:srgbClr val="263238"/>
          </a:solidFill>
          <a:ln w="9525">
            <a:solidFill>
              <a:srgbClr val="D8DDE3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D1187F-05A2-4469-AD5A-6ED710677900}"/>
              </a:ext>
            </a:extLst>
          </p:cNvPr>
          <p:cNvSpPr>
            <a:spLocks noGrp="1"/>
          </p:cNvSpPr>
          <p:nvPr/>
        </p:nvSpPr>
        <p:spPr>
          <a:xfrm>
            <a:off x="5200650" y="1885950"/>
            <a:ext cx="704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B64369-47C2-4F8B-A204-F54EE61229B9}"/>
              </a:ext>
            </a:extLst>
          </p:cNvPr>
          <p:cNvSpPr>
            <a:spLocks noGrp="1"/>
          </p:cNvSpPr>
          <p:nvPr/>
        </p:nvSpPr>
        <p:spPr>
          <a:xfrm>
            <a:off x="5981700" y="1809750"/>
            <a:ext cx="857250" cy="495300"/>
          </a:xfrm>
          <a:prstGeom prst="rect">
            <a:avLst/>
          </a:prstGeom>
          <a:solidFill>
            <a:srgbClr val="263238"/>
          </a:solidFill>
          <a:ln w="9525">
            <a:solidFill>
              <a:srgbClr val="D8DDE3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9D4766-7262-4F53-9458-01B2986E881F}"/>
              </a:ext>
            </a:extLst>
          </p:cNvPr>
          <p:cNvSpPr>
            <a:spLocks noGrp="1"/>
          </p:cNvSpPr>
          <p:nvPr/>
        </p:nvSpPr>
        <p:spPr>
          <a:xfrm>
            <a:off x="6057900" y="1885950"/>
            <a:ext cx="704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0F9D3F-EF18-4F70-B0C1-0F5DB358196A}"/>
              </a:ext>
            </a:extLst>
          </p:cNvPr>
          <p:cNvSpPr>
            <a:spLocks noGrp="1"/>
          </p:cNvSpPr>
          <p:nvPr/>
        </p:nvSpPr>
        <p:spPr>
          <a:xfrm>
            <a:off x="6838950" y="1809750"/>
            <a:ext cx="1047750" cy="495300"/>
          </a:xfrm>
          <a:prstGeom prst="rect">
            <a:avLst/>
          </a:prstGeom>
          <a:solidFill>
            <a:srgbClr val="263238"/>
          </a:solidFill>
          <a:ln w="9525">
            <a:solidFill>
              <a:srgbClr val="D8DDE3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B9B9B5-6BEA-4BF9-9435-B55F2D3843AC}"/>
              </a:ext>
            </a:extLst>
          </p:cNvPr>
          <p:cNvSpPr>
            <a:spLocks noGrp="1"/>
          </p:cNvSpPr>
          <p:nvPr/>
        </p:nvSpPr>
        <p:spPr>
          <a:xfrm>
            <a:off x="6915150" y="1885950"/>
            <a:ext cx="8953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Total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EA59C8-076E-4C74-A53F-92A765DD1C32}"/>
              </a:ext>
            </a:extLst>
          </p:cNvPr>
          <p:cNvSpPr>
            <a:spLocks noGrp="1"/>
          </p:cNvSpPr>
          <p:nvPr/>
        </p:nvSpPr>
        <p:spPr>
          <a:xfrm>
            <a:off x="552450" y="2305050"/>
            <a:ext cx="28575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D5936F-B762-465B-A440-9BD46A5AC0D2}"/>
              </a:ext>
            </a:extLst>
          </p:cNvPr>
          <p:cNvSpPr>
            <a:spLocks noGrp="1"/>
          </p:cNvSpPr>
          <p:nvPr/>
        </p:nvSpPr>
        <p:spPr>
          <a:xfrm>
            <a:off x="628650" y="2381250"/>
            <a:ext cx="27051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Base operational forecast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FB2B5D-4DEF-43AA-AA33-BFE95EDB263F}"/>
              </a:ext>
            </a:extLst>
          </p:cNvPr>
          <p:cNvSpPr>
            <a:spLocks noGrp="1"/>
          </p:cNvSpPr>
          <p:nvPr/>
        </p:nvSpPr>
        <p:spPr>
          <a:xfrm>
            <a:off x="3409950" y="2305050"/>
            <a:ext cx="8572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88F7FF-2A1C-47E8-BBF7-D65ED0F8EBE4}"/>
              </a:ext>
            </a:extLst>
          </p:cNvPr>
          <p:cNvSpPr>
            <a:spLocks noGrp="1"/>
          </p:cNvSpPr>
          <p:nvPr/>
        </p:nvSpPr>
        <p:spPr>
          <a:xfrm>
            <a:off x="3486150" y="2381250"/>
            <a:ext cx="704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212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599677-AAF0-49B0-B933-FB5587AFDFD4}"/>
              </a:ext>
            </a:extLst>
          </p:cNvPr>
          <p:cNvSpPr>
            <a:spLocks noGrp="1"/>
          </p:cNvSpPr>
          <p:nvPr/>
        </p:nvSpPr>
        <p:spPr>
          <a:xfrm>
            <a:off x="4267200" y="2305050"/>
            <a:ext cx="8572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171259-0A0F-4EF7-A8A0-62114C4EA08A}"/>
              </a:ext>
            </a:extLst>
          </p:cNvPr>
          <p:cNvSpPr>
            <a:spLocks noGrp="1"/>
          </p:cNvSpPr>
          <p:nvPr/>
        </p:nvSpPr>
        <p:spPr>
          <a:xfrm>
            <a:off x="4343400" y="2381250"/>
            <a:ext cx="704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254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6C365A0-BB16-4A16-B060-B247AEBFDDD5}"/>
              </a:ext>
            </a:extLst>
          </p:cNvPr>
          <p:cNvSpPr>
            <a:spLocks noGrp="1"/>
          </p:cNvSpPr>
          <p:nvPr/>
        </p:nvSpPr>
        <p:spPr>
          <a:xfrm>
            <a:off x="5124450" y="2305050"/>
            <a:ext cx="8572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CDD49B-E854-435A-8907-4FBA80B19812}"/>
              </a:ext>
            </a:extLst>
          </p:cNvPr>
          <p:cNvSpPr>
            <a:spLocks noGrp="1"/>
          </p:cNvSpPr>
          <p:nvPr/>
        </p:nvSpPr>
        <p:spPr>
          <a:xfrm>
            <a:off x="5200650" y="2381250"/>
            <a:ext cx="704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214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EBE24B0-5097-4A9D-9EE3-3CECC353E58C}"/>
              </a:ext>
            </a:extLst>
          </p:cNvPr>
          <p:cNvSpPr>
            <a:spLocks noGrp="1"/>
          </p:cNvSpPr>
          <p:nvPr/>
        </p:nvSpPr>
        <p:spPr>
          <a:xfrm>
            <a:off x="5981700" y="2305050"/>
            <a:ext cx="8572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F669783-02DD-49DB-BD58-2BC81EA69720}"/>
              </a:ext>
            </a:extLst>
          </p:cNvPr>
          <p:cNvSpPr>
            <a:spLocks noGrp="1"/>
          </p:cNvSpPr>
          <p:nvPr/>
        </p:nvSpPr>
        <p:spPr>
          <a:xfrm>
            <a:off x="6057900" y="2381250"/>
            <a:ext cx="704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176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F1B4F2-493E-49CC-9D6E-6C85F938DE62}"/>
              </a:ext>
            </a:extLst>
          </p:cNvPr>
          <p:cNvSpPr>
            <a:spLocks noGrp="1"/>
          </p:cNvSpPr>
          <p:nvPr/>
        </p:nvSpPr>
        <p:spPr>
          <a:xfrm>
            <a:off x="6838950" y="2305050"/>
            <a:ext cx="1047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78CEC28-72FE-45B7-B74D-BDE12B70C462}"/>
              </a:ext>
            </a:extLst>
          </p:cNvPr>
          <p:cNvSpPr>
            <a:spLocks noGrp="1"/>
          </p:cNvSpPr>
          <p:nvPr/>
        </p:nvSpPr>
        <p:spPr>
          <a:xfrm>
            <a:off x="6915150" y="2381250"/>
            <a:ext cx="8953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856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386ADB7-603E-4C16-B815-48A99D870A0B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2857500" cy="495300"/>
          </a:xfrm>
          <a:prstGeom prst="rect">
            <a:avLst/>
          </a:prstGeom>
          <a:solidFill>
            <a:srgbClr val="FAFAF8"/>
          </a:solidFill>
          <a:ln w="9525">
            <a:solidFill>
              <a:srgbClr val="D8DDE3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380A0E-E9B6-4028-ACC1-06F55DE22302}"/>
              </a:ext>
            </a:extLst>
          </p:cNvPr>
          <p:cNvSpPr>
            <a:spLocks noGrp="1"/>
          </p:cNvSpPr>
          <p:nvPr/>
        </p:nvSpPr>
        <p:spPr>
          <a:xfrm>
            <a:off x="628650" y="2876550"/>
            <a:ext cx="27051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Signed two-week promo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9640005-7D08-4DB3-8068-886F7C1E062A}"/>
              </a:ext>
            </a:extLst>
          </p:cNvPr>
          <p:cNvSpPr>
            <a:spLocks noGrp="1"/>
          </p:cNvSpPr>
          <p:nvPr/>
        </p:nvSpPr>
        <p:spPr>
          <a:xfrm>
            <a:off x="3409950" y="2800350"/>
            <a:ext cx="857250" cy="495300"/>
          </a:xfrm>
          <a:prstGeom prst="rect">
            <a:avLst/>
          </a:prstGeom>
          <a:solidFill>
            <a:srgbClr val="FAFAF8"/>
          </a:solidFill>
          <a:ln w="9525">
            <a:solidFill>
              <a:srgbClr val="D8DDE3"/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F964713-1D91-4497-8575-48872F6C42B9}"/>
              </a:ext>
            </a:extLst>
          </p:cNvPr>
          <p:cNvSpPr>
            <a:spLocks noGrp="1"/>
          </p:cNvSpPr>
          <p:nvPr/>
        </p:nvSpPr>
        <p:spPr>
          <a:xfrm>
            <a:off x="3486150" y="2876550"/>
            <a:ext cx="704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212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85F8913-ECCC-4747-813F-CAC361BAF80B}"/>
              </a:ext>
            </a:extLst>
          </p:cNvPr>
          <p:cNvSpPr>
            <a:spLocks noGrp="1"/>
          </p:cNvSpPr>
          <p:nvPr/>
        </p:nvSpPr>
        <p:spPr>
          <a:xfrm>
            <a:off x="4267200" y="2800350"/>
            <a:ext cx="857250" cy="495300"/>
          </a:xfrm>
          <a:prstGeom prst="rect">
            <a:avLst/>
          </a:prstGeom>
          <a:solidFill>
            <a:srgbClr val="FAFAF8"/>
          </a:solidFill>
          <a:ln w="9525">
            <a:solidFill>
              <a:srgbClr val="D8DDE3"/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2042FF6-8AAC-4C0B-9E6B-FDFADD6961EF}"/>
              </a:ext>
            </a:extLst>
          </p:cNvPr>
          <p:cNvSpPr>
            <a:spLocks noGrp="1"/>
          </p:cNvSpPr>
          <p:nvPr/>
        </p:nvSpPr>
        <p:spPr>
          <a:xfrm>
            <a:off x="4343400" y="2876550"/>
            <a:ext cx="704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378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7E1A595-6FFB-496A-8A31-1BB43A77B514}"/>
              </a:ext>
            </a:extLst>
          </p:cNvPr>
          <p:cNvSpPr>
            <a:spLocks noGrp="1"/>
          </p:cNvSpPr>
          <p:nvPr/>
        </p:nvSpPr>
        <p:spPr>
          <a:xfrm>
            <a:off x="5124450" y="2800350"/>
            <a:ext cx="857250" cy="495300"/>
          </a:xfrm>
          <a:prstGeom prst="rect">
            <a:avLst/>
          </a:prstGeom>
          <a:solidFill>
            <a:srgbClr val="FAFAF8"/>
          </a:solidFill>
          <a:ln w="9525">
            <a:solidFill>
              <a:srgbClr val="D8DDE3"/>
            </a:solidFill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947EB84-5EDF-4CC5-80BA-822773161258}"/>
              </a:ext>
            </a:extLst>
          </p:cNvPr>
          <p:cNvSpPr>
            <a:spLocks noGrp="1"/>
          </p:cNvSpPr>
          <p:nvPr/>
        </p:nvSpPr>
        <p:spPr>
          <a:xfrm>
            <a:off x="5200650" y="2876550"/>
            <a:ext cx="704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378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A58C2EE-41E7-477B-ABB7-05A7B8C6B1F1}"/>
              </a:ext>
            </a:extLst>
          </p:cNvPr>
          <p:cNvSpPr>
            <a:spLocks noGrp="1"/>
          </p:cNvSpPr>
          <p:nvPr/>
        </p:nvSpPr>
        <p:spPr>
          <a:xfrm>
            <a:off x="5981700" y="2800350"/>
            <a:ext cx="857250" cy="495300"/>
          </a:xfrm>
          <a:prstGeom prst="rect">
            <a:avLst/>
          </a:prstGeom>
          <a:solidFill>
            <a:srgbClr val="FAFAF8"/>
          </a:solidFill>
          <a:ln w="9525">
            <a:solidFill>
              <a:srgbClr val="D8DDE3"/>
            </a:solidFill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30C2860-85F5-42F6-BE9A-4519AFA54962}"/>
              </a:ext>
            </a:extLst>
          </p:cNvPr>
          <p:cNvSpPr>
            <a:spLocks noGrp="1"/>
          </p:cNvSpPr>
          <p:nvPr/>
        </p:nvSpPr>
        <p:spPr>
          <a:xfrm>
            <a:off x="6057900" y="2876550"/>
            <a:ext cx="704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176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728C0D1-F392-490F-91F7-B05FBD174040}"/>
              </a:ext>
            </a:extLst>
          </p:cNvPr>
          <p:cNvSpPr>
            <a:spLocks noGrp="1"/>
          </p:cNvSpPr>
          <p:nvPr/>
        </p:nvSpPr>
        <p:spPr>
          <a:xfrm>
            <a:off x="6838950" y="2800350"/>
            <a:ext cx="1047750" cy="495300"/>
          </a:xfrm>
          <a:prstGeom prst="rect">
            <a:avLst/>
          </a:prstGeom>
          <a:solidFill>
            <a:srgbClr val="FAFAF8"/>
          </a:solidFill>
          <a:ln w="9525">
            <a:solidFill>
              <a:srgbClr val="D8DDE3"/>
            </a:solidFill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672E57-FDA5-46E2-83E6-DB8F6A197179}"/>
              </a:ext>
            </a:extLst>
          </p:cNvPr>
          <p:cNvSpPr>
            <a:spLocks noGrp="1"/>
          </p:cNvSpPr>
          <p:nvPr/>
        </p:nvSpPr>
        <p:spPr>
          <a:xfrm>
            <a:off x="6915150" y="2876550"/>
            <a:ext cx="8953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1,144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47CF0AF-0EDF-4FBB-9B87-E37162FA0CBE}"/>
              </a:ext>
            </a:extLst>
          </p:cNvPr>
          <p:cNvSpPr>
            <a:spLocks noGrp="1"/>
          </p:cNvSpPr>
          <p:nvPr/>
        </p:nvSpPr>
        <p:spPr>
          <a:xfrm>
            <a:off x="552450" y="3295650"/>
            <a:ext cx="28575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B8414BD-4B82-4889-B6C8-DA15862401D5}"/>
              </a:ext>
            </a:extLst>
          </p:cNvPr>
          <p:cNvSpPr>
            <a:spLocks noGrp="1"/>
          </p:cNvSpPr>
          <p:nvPr/>
        </p:nvSpPr>
        <p:spPr>
          <a:xfrm>
            <a:off x="628650" y="3371850"/>
            <a:ext cx="27051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Sales upside sensitivity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7AC06F2-F380-42D4-A78D-BC1651A9E0C9}"/>
              </a:ext>
            </a:extLst>
          </p:cNvPr>
          <p:cNvSpPr>
            <a:spLocks noGrp="1"/>
          </p:cNvSpPr>
          <p:nvPr/>
        </p:nvSpPr>
        <p:spPr>
          <a:xfrm>
            <a:off x="3409950" y="3295650"/>
            <a:ext cx="8572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66856CA-3EE8-413E-A3F0-6FFF6FA0FC25}"/>
              </a:ext>
            </a:extLst>
          </p:cNvPr>
          <p:cNvSpPr>
            <a:spLocks noGrp="1"/>
          </p:cNvSpPr>
          <p:nvPr/>
        </p:nvSpPr>
        <p:spPr>
          <a:xfrm>
            <a:off x="3486150" y="3371850"/>
            <a:ext cx="704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212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34B5710-F1C5-4892-B5C5-AE79D4937022}"/>
              </a:ext>
            </a:extLst>
          </p:cNvPr>
          <p:cNvSpPr>
            <a:spLocks noGrp="1"/>
          </p:cNvSpPr>
          <p:nvPr/>
        </p:nvSpPr>
        <p:spPr>
          <a:xfrm>
            <a:off x="4267200" y="3295650"/>
            <a:ext cx="8572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69940A6-B258-4F00-AE82-FDE77CFDB9A6}"/>
              </a:ext>
            </a:extLst>
          </p:cNvPr>
          <p:cNvSpPr>
            <a:spLocks noGrp="1"/>
          </p:cNvSpPr>
          <p:nvPr/>
        </p:nvSpPr>
        <p:spPr>
          <a:xfrm>
            <a:off x="4343400" y="3371850"/>
            <a:ext cx="704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429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033C3A2-B2E1-46FD-B4E8-D001CA2C82EB}"/>
              </a:ext>
            </a:extLst>
          </p:cNvPr>
          <p:cNvSpPr>
            <a:spLocks noGrp="1"/>
          </p:cNvSpPr>
          <p:nvPr/>
        </p:nvSpPr>
        <p:spPr>
          <a:xfrm>
            <a:off x="5124450" y="3295650"/>
            <a:ext cx="8572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D9ED6D9-C54C-470A-A5DA-FDEA45D588AC}"/>
              </a:ext>
            </a:extLst>
          </p:cNvPr>
          <p:cNvSpPr>
            <a:spLocks noGrp="1"/>
          </p:cNvSpPr>
          <p:nvPr/>
        </p:nvSpPr>
        <p:spPr>
          <a:xfrm>
            <a:off x="5200650" y="3371850"/>
            <a:ext cx="704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429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A34BE5C-E9E9-4E97-922F-882ADF73267D}"/>
              </a:ext>
            </a:extLst>
          </p:cNvPr>
          <p:cNvSpPr>
            <a:spLocks noGrp="1"/>
          </p:cNvSpPr>
          <p:nvPr/>
        </p:nvSpPr>
        <p:spPr>
          <a:xfrm>
            <a:off x="5981700" y="3295650"/>
            <a:ext cx="8572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C654C6E-DBAB-4EA1-BE40-B6BD487F4639}"/>
              </a:ext>
            </a:extLst>
          </p:cNvPr>
          <p:cNvSpPr>
            <a:spLocks noGrp="1"/>
          </p:cNvSpPr>
          <p:nvPr/>
        </p:nvSpPr>
        <p:spPr>
          <a:xfrm>
            <a:off x="6057900" y="3371850"/>
            <a:ext cx="704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176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CFEB00C-4D61-4277-A51F-56F71F775C26}"/>
              </a:ext>
            </a:extLst>
          </p:cNvPr>
          <p:cNvSpPr>
            <a:spLocks noGrp="1"/>
          </p:cNvSpPr>
          <p:nvPr/>
        </p:nvSpPr>
        <p:spPr>
          <a:xfrm>
            <a:off x="6838950" y="3295650"/>
            <a:ext cx="1047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E291777-3956-4E5E-85E4-DA21437D4FAD}"/>
              </a:ext>
            </a:extLst>
          </p:cNvPr>
          <p:cNvSpPr>
            <a:spLocks noGrp="1"/>
          </p:cNvSpPr>
          <p:nvPr/>
        </p:nvSpPr>
        <p:spPr>
          <a:xfrm>
            <a:off x="6915150" y="3371850"/>
            <a:ext cx="8953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/>
          <a:lstStyle/>
          <a:p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1,246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EFA9A48-0D55-4097-83D4-B9F48D6B22EF}"/>
              </a:ext>
            </a:extLst>
          </p:cNvPr>
          <p:cNvSpPr>
            <a:spLocks noGrp="1"/>
          </p:cNvSpPr>
          <p:nvPr/>
        </p:nvSpPr>
        <p:spPr>
          <a:xfrm>
            <a:off x="552450" y="417195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/>
          <a:lstStyle/>
          <a:p>
            <a:pPr algn="l">
              <a:defRPr sz="135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Total volume by scenario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835B5AB-5924-4D72-8E12-1D2F73C20C2F}"/>
              </a:ext>
            </a:extLst>
          </p:cNvPr>
          <p:cNvSpPr>
            <a:spLocks noGrp="1"/>
          </p:cNvSpPr>
          <p:nvPr/>
        </p:nvSpPr>
        <p:spPr>
          <a:xfrm>
            <a:off x="552450" y="464820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/>
          <a:lstStyle/>
          <a:p>
            <a:pPr algn="l">
              <a:defRPr sz="105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F12BB2F9-FA72-48DC-95C9-A54DA8407DDB}"/>
              </a:ext>
            </a:extLst>
          </p:cNvPr>
          <p:cNvSpPr>
            <a:spLocks noGrp="1"/>
          </p:cNvSpPr>
          <p:nvPr/>
        </p:nvSpPr>
        <p:spPr>
          <a:xfrm>
            <a:off x="2838450" y="4686300"/>
            <a:ext cx="3905250" cy="247650"/>
          </a:xfrm>
          <a:prstGeom prst="roundRect">
            <a:avLst>
              <a:gd name="adj" fmla="val 7692"/>
            </a:avLst>
          </a:prstGeom>
          <a:solidFill>
            <a:srgbClr val="ECEFF1"/>
          </a:solidFill>
          <a:ln w="0">
            <a:noFill/>
          </a:ln>
        </p:spPr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8B73F122-839A-441E-8183-274633D7D166}"/>
              </a:ext>
            </a:extLst>
          </p:cNvPr>
          <p:cNvSpPr>
            <a:spLocks noGrp="1"/>
          </p:cNvSpPr>
          <p:nvPr/>
        </p:nvSpPr>
        <p:spPr>
          <a:xfrm>
            <a:off x="2838450" y="4686300"/>
            <a:ext cx="2682900" cy="247650"/>
          </a:xfrm>
          <a:prstGeom prst="roundRect">
            <a:avLst>
              <a:gd name="adj" fmla="val 7692"/>
            </a:avLst>
          </a:prstGeom>
          <a:solidFill>
            <a:srgbClr val="007A78"/>
          </a:solidFill>
          <a:ln w="0">
            <a:noFill/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7D51184-4A96-431D-B7E1-5F4CE1DBBAE6}"/>
              </a:ext>
            </a:extLst>
          </p:cNvPr>
          <p:cNvSpPr>
            <a:spLocks noGrp="1"/>
          </p:cNvSpPr>
          <p:nvPr/>
        </p:nvSpPr>
        <p:spPr>
          <a:xfrm>
            <a:off x="6838950" y="466725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/>
          <a:lstStyle/>
          <a:p>
            <a:pPr algn="l">
              <a:defRPr sz="105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856k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776792C-B999-4F96-A86B-6261A01C332F}"/>
              </a:ext>
            </a:extLst>
          </p:cNvPr>
          <p:cNvSpPr>
            <a:spLocks noGrp="1"/>
          </p:cNvSpPr>
          <p:nvPr/>
        </p:nvSpPr>
        <p:spPr>
          <a:xfrm>
            <a:off x="552450" y="518160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/>
          <a:lstStyle/>
          <a:p>
            <a:pPr algn="l">
              <a:defRPr sz="105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Signed promo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B94DF5D8-C161-4BEE-80F5-250536B7E5CB}"/>
              </a:ext>
            </a:extLst>
          </p:cNvPr>
          <p:cNvSpPr>
            <a:spLocks noGrp="1"/>
          </p:cNvSpPr>
          <p:nvPr/>
        </p:nvSpPr>
        <p:spPr>
          <a:xfrm>
            <a:off x="2838450" y="5219700"/>
            <a:ext cx="3905250" cy="247650"/>
          </a:xfrm>
          <a:prstGeom prst="roundRect">
            <a:avLst>
              <a:gd name="adj" fmla="val 7692"/>
            </a:avLst>
          </a:prstGeom>
          <a:solidFill>
            <a:srgbClr val="ECEFF1"/>
          </a:solidFill>
          <a:ln w="0">
            <a:noFill/>
          </a:ln>
        </p:spPr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9125C59-829A-45AE-B7CA-63EC527346BA}"/>
              </a:ext>
            </a:extLst>
          </p:cNvPr>
          <p:cNvSpPr>
            <a:spLocks noGrp="1"/>
          </p:cNvSpPr>
          <p:nvPr/>
        </p:nvSpPr>
        <p:spPr>
          <a:xfrm>
            <a:off x="2838450" y="5219700"/>
            <a:ext cx="3585559" cy="247650"/>
          </a:xfrm>
          <a:prstGeom prst="roundRect">
            <a:avLst>
              <a:gd name="adj" fmla="val 7692"/>
            </a:avLst>
          </a:prstGeom>
          <a:solidFill>
            <a:srgbClr val="9E1B32"/>
          </a:solidFill>
          <a:ln w="0">
            <a:noFill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781C699-E011-47C8-80A5-953DA67CA9AE}"/>
              </a:ext>
            </a:extLst>
          </p:cNvPr>
          <p:cNvSpPr>
            <a:spLocks noGrp="1"/>
          </p:cNvSpPr>
          <p:nvPr/>
        </p:nvSpPr>
        <p:spPr>
          <a:xfrm>
            <a:off x="6838950" y="520065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/>
          <a:lstStyle/>
          <a:p>
            <a:pPr algn="l">
              <a:defRPr sz="105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1,144k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1C5AAAB-A110-47BF-B210-CEDC5875767B}"/>
              </a:ext>
            </a:extLst>
          </p:cNvPr>
          <p:cNvSpPr>
            <a:spLocks noGrp="1"/>
          </p:cNvSpPr>
          <p:nvPr/>
        </p:nvSpPr>
        <p:spPr>
          <a:xfrm>
            <a:off x="552450" y="571500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/>
          <a:lstStyle/>
          <a:p>
            <a:pPr algn="l">
              <a:defRPr sz="105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Upside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3B11562C-5947-46B8-8B8D-7CCD71C8B615}"/>
              </a:ext>
            </a:extLst>
          </p:cNvPr>
          <p:cNvSpPr>
            <a:spLocks noGrp="1"/>
          </p:cNvSpPr>
          <p:nvPr/>
        </p:nvSpPr>
        <p:spPr>
          <a:xfrm>
            <a:off x="2838450" y="5753100"/>
            <a:ext cx="3905250" cy="247650"/>
          </a:xfrm>
          <a:prstGeom prst="roundRect">
            <a:avLst>
              <a:gd name="adj" fmla="val 7692"/>
            </a:avLst>
          </a:prstGeom>
          <a:solidFill>
            <a:srgbClr val="ECEFF1"/>
          </a:solidFill>
          <a:ln w="0">
            <a:noFill/>
          </a:ln>
        </p:spPr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DFEE5DC1-507D-4F50-A484-EBC9BDCEEA70}"/>
              </a:ext>
            </a:extLst>
          </p:cNvPr>
          <p:cNvSpPr>
            <a:spLocks noGrp="1"/>
          </p:cNvSpPr>
          <p:nvPr/>
        </p:nvSpPr>
        <p:spPr>
          <a:xfrm>
            <a:off x="2838450" y="5753100"/>
            <a:ext cx="3905250" cy="247650"/>
          </a:xfrm>
          <a:prstGeom prst="roundRect">
            <a:avLst>
              <a:gd name="adj" fmla="val 7692"/>
            </a:avLst>
          </a:prstGeom>
          <a:solidFill>
            <a:srgbClr val="F2A900"/>
          </a:solidFill>
          <a:ln w="0">
            <a:noFill/>
          </a:ln>
        </p:spPr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5110513-50E5-43CB-91D6-EA5771E448CE}"/>
              </a:ext>
            </a:extLst>
          </p:cNvPr>
          <p:cNvSpPr>
            <a:spLocks noGrp="1"/>
          </p:cNvSpPr>
          <p:nvPr/>
        </p:nvSpPr>
        <p:spPr>
          <a:xfrm>
            <a:off x="6838950" y="573405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/>
          <a:lstStyle/>
          <a:p>
            <a:pPr algn="l">
              <a:defRPr sz="105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1,246k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FCDCEF5-B52A-4267-9EE2-43811E141FF3}"/>
              </a:ext>
            </a:extLst>
          </p:cNvPr>
          <p:cNvSpPr>
            <a:spLocks noGrp="1"/>
          </p:cNvSpPr>
          <p:nvPr/>
        </p:nvSpPr>
        <p:spPr>
          <a:xfrm>
            <a:off x="8305800" y="18097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/>
          <a:lstStyle/>
          <a:p>
            <a:pPr algn="l">
              <a:defRPr sz="135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Operational gate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3093B25-A214-479A-8337-9F3A769CD693}"/>
              </a:ext>
            </a:extLst>
          </p:cNvPr>
          <p:cNvSpPr>
            <a:spLocks noGrp="1"/>
          </p:cNvSpPr>
          <p:nvPr/>
        </p:nvSpPr>
        <p:spPr>
          <a:xfrm>
            <a:off x="8305800" y="2266950"/>
            <a:ext cx="314325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</p:spPr>
        <p:txBody>
          <a:bodyPr wrap="square" lIns="152400" tIns="152400" rIns="152400" bIns="152400" anchor="t"/>
          <a:lstStyle/>
          <a:p>
            <a:pPr algn="l">
              <a:defRPr sz="12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Before loading 1,144k, require Sales to sign: customer, mechanic, W2-W3 phasing, committed orders, and contingency if casefill risk returns.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CDF56A4-57AD-4AC0-A417-D5975A7C4FE5}"/>
              </a:ext>
            </a:extLst>
          </p:cNvPr>
          <p:cNvSpPr>
            <a:spLocks noGrp="1"/>
          </p:cNvSpPr>
          <p:nvPr/>
        </p:nvSpPr>
        <p:spPr>
          <a:xfrm>
            <a:off x="8305800" y="3810000"/>
            <a:ext cx="3143250" cy="1219200"/>
          </a:xfrm>
          <a:prstGeom prst="rect">
            <a:avLst/>
          </a:prstGeom>
          <a:solidFill>
            <a:srgbClr val="F7E7EA"/>
          </a:solidFill>
          <a:ln w="9525">
            <a:solidFill>
              <a:srgbClr val="9E1B32"/>
            </a:solidFill>
          </a:ln>
        </p:spPr>
        <p:txBody>
          <a:bodyPr wrap="square" lIns="152400" tIns="152400" rIns="152400" bIns="152400" anchor="t"/>
          <a:lstStyle/>
          <a:p>
            <a:pPr algn="l">
              <a:defRPr sz="12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What I would not do: accept a January promotion uplift just because recent promotional weeks were exciting. The factory plan needs a signed event, not a story.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3CCD6E0-614D-4563-9FB3-8FB567F57118}"/>
              </a:ext>
            </a:extLst>
          </p:cNvPr>
          <p:cNvSpPr>
            <a:spLocks noGrp="1"/>
          </p:cNvSpPr>
          <p:nvPr/>
        </p:nvSpPr>
        <p:spPr>
          <a:xfrm>
            <a:off x="552450" y="624840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t"/>
          <a:lstStyle/>
          <a:p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Business Case - Forecast Analyst.xlsx; cases in '000.</a:t>
            </a:r>
          </a:p>
        </p:txBody>
      </p:sp>
    </p:spTree>
    <p:extLst>
      <p:ext uri="{BB962C8B-B14F-4D97-AF65-F5344CB8AC3E}">
        <p14:creationId xmlns:p14="http://schemas.microsoft.com/office/powerpoint/2010/main" val="27978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2330</Words>
  <Application>Microsoft Office PowerPoint</Application>
  <PresentationFormat>Widescreen</PresentationFormat>
  <Paragraphs>290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 Unicode MS</vt:lpstr>
      <vt:lpstr>Aptos</vt:lpstr>
      <vt:lpstr>Aptos Display</vt:lpstr>
      <vt:lpstr>Arial</vt:lpstr>
      <vt:lpstr>Calibri</vt:lpstr>
      <vt:lpstr>Symbol</vt:lpstr>
      <vt:lpstr>Office Theme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Mars Real Deal – January Forecast Recommendation</dc:title>
  <dc:subject>Mars Real Deal January Forecast</dc:subject>
  <dc:creator>OpenAI</dc:creator>
  <cp:lastModifiedBy>Zhongyang Hu</cp:lastModifiedBy>
  <cp:revision>3</cp:revision>
  <dcterms:created xsi:type="dcterms:W3CDTF">2026-06-10T10:45:45Z</dcterms:created>
  <dcterms:modified xsi:type="dcterms:W3CDTF">2026-06-10T21:53:13Z</dcterms:modified>
</cp:coreProperties>
</file>